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234"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557213416886098E-2"/>
          <c:y val="9.3867020119492689E-2"/>
          <c:w val="0.91478005565368992"/>
          <c:h val="0.90412143798465561"/>
        </c:manualLayout>
      </c:layout>
      <c:barChart>
        <c:barDir val="col"/>
        <c:grouping val="clustered"/>
        <c:varyColors val="0"/>
        <c:ser>
          <c:idx val="0"/>
          <c:order val="0"/>
          <c:tx>
            <c:strRef>
              <c:f>Sheet1!$B$1</c:f>
              <c:strCache>
                <c:ptCount val="1"/>
                <c:pt idx="0">
                  <c:v>Series 1</c:v>
                </c:pt>
              </c:strCache>
            </c:strRef>
          </c:tx>
          <c:spPr>
            <a:solidFill>
              <a:schemeClr val="accent2">
                <a:lumMod val="75000"/>
              </a:schemeClr>
            </a:solidFill>
            <a:ln>
              <a:noFill/>
            </a:ln>
            <a:effectLst/>
          </c:spPr>
          <c:invertIfNegative val="0"/>
          <c:cat>
            <c:strRef>
              <c:f>Sheet1!$A$2:$A$5</c:f>
              <c:strCache>
                <c:ptCount val="3"/>
                <c:pt idx="0">
                  <c:v>SAT</c:v>
                </c:pt>
                <c:pt idx="1">
                  <c:v>AHT</c:v>
                </c:pt>
                <c:pt idx="2">
                  <c:v>CSAT</c:v>
                </c:pt>
              </c:strCache>
            </c:strRef>
          </c:cat>
          <c:val>
            <c:numRef>
              <c:f>Sheet1!$B$2:$B$5</c:f>
              <c:numCache>
                <c:formatCode>General</c:formatCode>
                <c:ptCount val="4"/>
                <c:pt idx="0">
                  <c:v>1</c:v>
                </c:pt>
                <c:pt idx="1">
                  <c:v>2</c:v>
                </c:pt>
                <c:pt idx="2">
                  <c:v>9.5</c:v>
                </c:pt>
              </c:numCache>
            </c:numRef>
          </c:val>
          <c:extLst>
            <c:ext xmlns:c16="http://schemas.microsoft.com/office/drawing/2014/chart" uri="{C3380CC4-5D6E-409C-BE32-E72D297353CC}">
              <c16:uniqueId val="{00000000-BA78-4CD3-8C8D-73EAD247FDA5}"/>
            </c:ext>
          </c:extLst>
        </c:ser>
        <c:ser>
          <c:idx val="1"/>
          <c:order val="1"/>
          <c:tx>
            <c:strRef>
              <c:f>Sheet1!$C$1</c:f>
              <c:strCache>
                <c:ptCount val="1"/>
                <c:pt idx="0">
                  <c:v>Series 2</c:v>
                </c:pt>
              </c:strCache>
            </c:strRef>
          </c:tx>
          <c:spPr>
            <a:solidFill>
              <a:srgbClr val="FF00FF"/>
            </a:solidFill>
            <a:ln>
              <a:noFill/>
            </a:ln>
            <a:effectLst/>
          </c:spPr>
          <c:invertIfNegative val="0"/>
          <c:cat>
            <c:strRef>
              <c:f>Sheet1!$A$2:$A$5</c:f>
              <c:strCache>
                <c:ptCount val="3"/>
                <c:pt idx="0">
                  <c:v>SAT</c:v>
                </c:pt>
                <c:pt idx="1">
                  <c:v>AHT</c:v>
                </c:pt>
                <c:pt idx="2">
                  <c:v>CSAT</c:v>
                </c:pt>
              </c:strCache>
            </c:strRef>
          </c:cat>
          <c:val>
            <c:numRef>
              <c:f>Sheet1!$C$2:$C$5</c:f>
              <c:numCache>
                <c:formatCode>General</c:formatCode>
                <c:ptCount val="4"/>
                <c:pt idx="0">
                  <c:v>4</c:v>
                </c:pt>
                <c:pt idx="1">
                  <c:v>4.4000000000000004</c:v>
                </c:pt>
                <c:pt idx="2">
                  <c:v>4.5</c:v>
                </c:pt>
              </c:numCache>
            </c:numRef>
          </c:val>
          <c:extLst>
            <c:ext xmlns:c16="http://schemas.microsoft.com/office/drawing/2014/chart" uri="{C3380CC4-5D6E-409C-BE32-E72D297353CC}">
              <c16:uniqueId val="{00000001-BA78-4CD3-8C8D-73EAD247FDA5}"/>
            </c:ext>
          </c:extLst>
        </c:ser>
        <c:ser>
          <c:idx val="2"/>
          <c:order val="2"/>
          <c:tx>
            <c:strRef>
              <c:f>Sheet1!$D$1</c:f>
              <c:strCache>
                <c:ptCount val="1"/>
                <c:pt idx="0">
                  <c:v>Series 3</c:v>
                </c:pt>
              </c:strCache>
            </c:strRef>
          </c:tx>
          <c:spPr>
            <a:solidFill>
              <a:srgbClr val="00B050"/>
            </a:solidFill>
            <a:ln>
              <a:noFill/>
            </a:ln>
            <a:effectLst/>
          </c:spPr>
          <c:invertIfNegative val="0"/>
          <c:cat>
            <c:strRef>
              <c:f>Sheet1!$A$2:$A$5</c:f>
              <c:strCache>
                <c:ptCount val="3"/>
                <c:pt idx="0">
                  <c:v>SAT</c:v>
                </c:pt>
                <c:pt idx="1">
                  <c:v>AHT</c:v>
                </c:pt>
                <c:pt idx="2">
                  <c:v>CSAT</c:v>
                </c:pt>
              </c:strCache>
            </c:strRef>
          </c:cat>
          <c:val>
            <c:numRef>
              <c:f>Sheet1!$D$2:$D$5</c:f>
              <c:numCache>
                <c:formatCode>General</c:formatCode>
                <c:ptCount val="4"/>
                <c:pt idx="0">
                  <c:v>8</c:v>
                </c:pt>
                <c:pt idx="1">
                  <c:v>9.1999999999999993</c:v>
                </c:pt>
                <c:pt idx="2">
                  <c:v>1</c:v>
                </c:pt>
              </c:numCache>
            </c:numRef>
          </c:val>
          <c:extLst>
            <c:ext xmlns:c16="http://schemas.microsoft.com/office/drawing/2014/chart" uri="{C3380CC4-5D6E-409C-BE32-E72D297353CC}">
              <c16:uniqueId val="{00000002-BA78-4CD3-8C8D-73EAD247FDA5}"/>
            </c:ext>
          </c:extLst>
        </c:ser>
        <c:dLbls>
          <c:showLegendKey val="0"/>
          <c:showVal val="0"/>
          <c:showCatName val="0"/>
          <c:showSerName val="0"/>
          <c:showPercent val="0"/>
          <c:showBubbleSize val="0"/>
        </c:dLbls>
        <c:gapWidth val="219"/>
        <c:overlap val="-27"/>
        <c:axId val="883579487"/>
        <c:axId val="883579967"/>
      </c:barChart>
      <c:catAx>
        <c:axId val="883579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83579967"/>
        <c:crosses val="autoZero"/>
        <c:auto val="1"/>
        <c:lblAlgn val="ctr"/>
        <c:lblOffset val="100"/>
        <c:noMultiLvlLbl val="0"/>
      </c:catAx>
      <c:valAx>
        <c:axId val="8835799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83579487"/>
        <c:crosses val="autoZero"/>
        <c:crossBetween val="between"/>
      </c:valAx>
      <c:spPr>
        <a:noFill/>
        <a:ln>
          <a:solidFill>
            <a:srgbClr val="FFFFFF"/>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C31AAC-3671-4973-8409-41D69E55DE48}"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205D8068-5746-4311-915E-DCFD04C3AFDB}">
      <dgm:prSet phldrT="[Text]" custT="1"/>
      <dgm:spPr>
        <a:solidFill>
          <a:schemeClr val="accent2">
            <a:lumMod val="60000"/>
            <a:lumOff val="40000"/>
          </a:schemeClr>
        </a:solidFill>
      </dgm:spPr>
      <dgm:t>
        <a:bodyPr/>
        <a:lstStyle/>
        <a:p>
          <a:r>
            <a:rPr lang="en-US" sz="900" b="1" dirty="0">
              <a:solidFill>
                <a:schemeClr val="tx1"/>
              </a:solidFill>
            </a:rPr>
            <a:t>Women’s Safety &amp; Care</a:t>
          </a:r>
          <a:endParaRPr lang="en-US" sz="900" dirty="0">
            <a:solidFill>
              <a:schemeClr val="tx1"/>
            </a:solidFill>
          </a:endParaRPr>
        </a:p>
        <a:p>
          <a:r>
            <a:rPr lang="en-US" sz="900" dirty="0">
              <a:solidFill>
                <a:schemeClr val="tx1"/>
              </a:solidFill>
            </a:rPr>
            <a:t>Suggested to the client deployment of a SOS facility for female riders and drivers, supported by a 24x7 dedicated helpline, a specialized QA team reviewing safety cases at set intervals, and  follow-up calls for every SOS instance  building trust and reinforcing positive brand sentiment</a:t>
          </a:r>
        </a:p>
      </dgm:t>
    </dgm:pt>
    <dgm:pt modelId="{58C7C8CB-5E86-48A7-A788-FBD3CB28F11C}" type="parTrans" cxnId="{B90C6257-5E7B-4751-8B92-7E441FAC1DAA}">
      <dgm:prSet/>
      <dgm:spPr/>
      <dgm:t>
        <a:bodyPr/>
        <a:lstStyle/>
        <a:p>
          <a:endParaRPr lang="en-US"/>
        </a:p>
      </dgm:t>
    </dgm:pt>
    <dgm:pt modelId="{916722A4-1B42-4FB4-918D-BEB8DE259518}" type="sibTrans" cxnId="{B90C6257-5E7B-4751-8B92-7E441FAC1DAA}">
      <dgm:prSet/>
      <dgm:spPr/>
      <dgm:t>
        <a:bodyPr/>
        <a:lstStyle/>
        <a:p>
          <a:endParaRPr lang="en-US"/>
        </a:p>
      </dgm:t>
    </dgm:pt>
    <dgm:pt modelId="{D3F27B09-70B4-407C-A405-E634F614C474}">
      <dgm:prSet phldrT="[Text]" custT="1"/>
      <dgm:spPr>
        <a:solidFill>
          <a:schemeClr val="accent2">
            <a:lumMod val="75000"/>
          </a:schemeClr>
        </a:solidFill>
      </dgm:spPr>
      <dgm:t>
        <a:bodyPr/>
        <a:lstStyle/>
        <a:p>
          <a:r>
            <a:rPr lang="en-US" sz="900" b="1" dirty="0">
              <a:solidFill>
                <a:schemeClr val="tx1"/>
              </a:solidFill>
            </a:rPr>
            <a:t>Business Growth Support</a:t>
          </a:r>
          <a:r>
            <a:rPr lang="en-US" sz="900" dirty="0">
              <a:solidFill>
                <a:schemeClr val="tx1"/>
              </a:solidFill>
            </a:rPr>
            <a:t> </a:t>
          </a:r>
        </a:p>
        <a:p>
          <a:r>
            <a:rPr lang="en-US" sz="900" dirty="0">
              <a:solidFill>
                <a:schemeClr val="tx1"/>
              </a:solidFill>
            </a:rPr>
            <a:t>Deployed business development support to strengthen partner performance, providing strategic guidance to help partners optimize operations and unlock growth opportunities within the ecosystem.</a:t>
          </a:r>
        </a:p>
      </dgm:t>
    </dgm:pt>
    <dgm:pt modelId="{34EED12B-19C9-4B9A-B4FC-22D3658AB8F0}" type="parTrans" cxnId="{E774A65C-A6E4-4B7B-870B-08A05721134D}">
      <dgm:prSet/>
      <dgm:spPr/>
      <dgm:t>
        <a:bodyPr/>
        <a:lstStyle/>
        <a:p>
          <a:endParaRPr lang="en-US"/>
        </a:p>
      </dgm:t>
    </dgm:pt>
    <dgm:pt modelId="{F04F6CAB-F811-4AE6-A683-08191F57CFAD}" type="sibTrans" cxnId="{E774A65C-A6E4-4B7B-870B-08A05721134D}">
      <dgm:prSet/>
      <dgm:spPr/>
      <dgm:t>
        <a:bodyPr/>
        <a:lstStyle/>
        <a:p>
          <a:endParaRPr lang="en-US"/>
        </a:p>
      </dgm:t>
    </dgm:pt>
    <dgm:pt modelId="{292D439A-6AC4-45DA-B801-C8B2CB72F3ED}">
      <dgm:prSet phldrT="[Text]" custT="1"/>
      <dgm:spPr>
        <a:solidFill>
          <a:schemeClr val="accent2">
            <a:lumMod val="60000"/>
            <a:lumOff val="40000"/>
          </a:schemeClr>
        </a:solidFill>
      </dgm:spPr>
      <dgm:t>
        <a:bodyPr/>
        <a:lstStyle/>
        <a:p>
          <a:r>
            <a:rPr lang="en-US" sz="900" b="1" dirty="0">
              <a:solidFill>
                <a:schemeClr val="tx1"/>
              </a:solidFill>
            </a:rPr>
            <a:t>Performance Enablement</a:t>
          </a:r>
        </a:p>
        <a:p>
          <a:r>
            <a:rPr lang="en-US" sz="900" dirty="0">
              <a:solidFill>
                <a:schemeClr val="tx1"/>
              </a:solidFill>
            </a:rPr>
            <a:t>Implemented the </a:t>
          </a:r>
          <a:r>
            <a:rPr lang="en-US" sz="900" dirty="0" err="1">
              <a:solidFill>
                <a:schemeClr val="tx1"/>
              </a:solidFill>
            </a:rPr>
            <a:t>i</a:t>
          </a:r>
          <a:r>
            <a:rPr lang="en-US" sz="900" dirty="0">
              <a:solidFill>
                <a:schemeClr val="tx1"/>
              </a:solidFill>
            </a:rPr>
            <a:t>-Star program as a structured framework to drive associate productivity, complemented by </a:t>
          </a:r>
          <a:r>
            <a:rPr lang="en-US" sz="900" dirty="0" err="1">
              <a:solidFill>
                <a:schemeClr val="tx1"/>
              </a:solidFill>
            </a:rPr>
            <a:t>outcalling</a:t>
          </a:r>
          <a:r>
            <a:rPr lang="en-US" sz="900" dirty="0">
              <a:solidFill>
                <a:schemeClr val="tx1"/>
              </a:solidFill>
            </a:rPr>
            <a:t> campaigns to re-engage inactive personnel and keep the workforce aligned with operational goals.</a:t>
          </a:r>
        </a:p>
      </dgm:t>
    </dgm:pt>
    <dgm:pt modelId="{4955AC9F-6BCE-48DC-AD2B-D822FAC37746}" type="parTrans" cxnId="{C938E4EF-A676-4932-8332-BDF4DBF01BB2}">
      <dgm:prSet/>
      <dgm:spPr/>
      <dgm:t>
        <a:bodyPr/>
        <a:lstStyle/>
        <a:p>
          <a:endParaRPr lang="en-US"/>
        </a:p>
      </dgm:t>
    </dgm:pt>
    <dgm:pt modelId="{89EA9CF3-C64F-483C-9AB9-97C7E5795216}" type="sibTrans" cxnId="{C938E4EF-A676-4932-8332-BDF4DBF01BB2}">
      <dgm:prSet/>
      <dgm:spPr/>
      <dgm:t>
        <a:bodyPr/>
        <a:lstStyle/>
        <a:p>
          <a:endParaRPr lang="en-US"/>
        </a:p>
      </dgm:t>
    </dgm:pt>
    <dgm:pt modelId="{AD196464-3633-4157-91C6-F449FC54B645}">
      <dgm:prSet phldrT="[Text]" custT="1"/>
      <dgm:spPr>
        <a:solidFill>
          <a:schemeClr val="accent2">
            <a:lumMod val="75000"/>
          </a:schemeClr>
        </a:solidFill>
      </dgm:spPr>
      <dgm:t>
        <a:bodyPr/>
        <a:lstStyle/>
        <a:p>
          <a:endParaRPr lang="en-US" sz="900" b="1" dirty="0">
            <a:solidFill>
              <a:schemeClr val="tx1"/>
            </a:solidFill>
          </a:endParaRPr>
        </a:p>
        <a:p>
          <a:r>
            <a:rPr lang="en-US" sz="900" b="1" dirty="0">
              <a:solidFill>
                <a:schemeClr val="tx1"/>
              </a:solidFill>
            </a:rPr>
            <a:t>Multilingual</a:t>
          </a:r>
        </a:p>
        <a:p>
          <a:r>
            <a:rPr lang="en-US" sz="900" b="1" dirty="0">
              <a:solidFill>
                <a:schemeClr val="tx1"/>
              </a:solidFill>
            </a:rPr>
            <a:t>Capability</a:t>
          </a:r>
          <a:r>
            <a:rPr lang="en-US" sz="900" dirty="0">
              <a:solidFill>
                <a:schemeClr val="tx1"/>
              </a:solidFill>
            </a:rPr>
            <a:t> </a:t>
          </a:r>
        </a:p>
        <a:p>
          <a:r>
            <a:rPr lang="en-US" sz="900" dirty="0">
              <a:solidFill>
                <a:schemeClr val="tx1"/>
              </a:solidFill>
            </a:rPr>
            <a:t>Equipped expat associates with targeted vocabulary and grammatical training to bridge language barriers across multiple geographies, ensuring every interaction was handled with clarity and professionalism regardless of regional context.</a:t>
          </a:r>
        </a:p>
        <a:p>
          <a:endParaRPr lang="en-US" sz="900" dirty="0">
            <a:solidFill>
              <a:schemeClr val="tx1"/>
            </a:solidFill>
          </a:endParaRPr>
        </a:p>
      </dgm:t>
    </dgm:pt>
    <dgm:pt modelId="{8F7A924F-A567-494D-B8A8-B3687C576476}" type="parTrans" cxnId="{00E0D3DB-667D-4DA8-B9F7-1B0593DF2998}">
      <dgm:prSet/>
      <dgm:spPr/>
      <dgm:t>
        <a:bodyPr/>
        <a:lstStyle/>
        <a:p>
          <a:endParaRPr lang="en-US"/>
        </a:p>
      </dgm:t>
    </dgm:pt>
    <dgm:pt modelId="{3C7A3669-66A6-4914-AC88-C349B5F5673B}" type="sibTrans" cxnId="{00E0D3DB-667D-4DA8-B9F7-1B0593DF2998}">
      <dgm:prSet/>
      <dgm:spPr/>
      <dgm:t>
        <a:bodyPr/>
        <a:lstStyle/>
        <a:p>
          <a:endParaRPr lang="en-US"/>
        </a:p>
      </dgm:t>
    </dgm:pt>
    <dgm:pt modelId="{6CA3D0AF-1BDD-4442-BF25-07927A90FEA6}">
      <dgm:prSet phldrT="[Text]" custT="1"/>
      <dgm:spPr>
        <a:solidFill>
          <a:schemeClr val="accent2">
            <a:lumMod val="60000"/>
            <a:lumOff val="40000"/>
          </a:schemeClr>
        </a:solidFill>
      </dgm:spPr>
      <dgm:t>
        <a:bodyPr/>
        <a:lstStyle/>
        <a:p>
          <a:r>
            <a:rPr lang="en-US" sz="900" b="1" dirty="0">
              <a:solidFill>
                <a:schemeClr val="tx1"/>
              </a:solidFill>
            </a:rPr>
            <a:t>Multichannel Engagement</a:t>
          </a:r>
          <a:endParaRPr lang="en-US" sz="900" dirty="0">
            <a:solidFill>
              <a:schemeClr val="tx1"/>
            </a:solidFill>
          </a:endParaRPr>
        </a:p>
        <a:p>
          <a:r>
            <a:rPr lang="en-US" sz="900" dirty="0">
              <a:solidFill>
                <a:schemeClr val="tx1"/>
              </a:solidFill>
            </a:rPr>
            <a:t>Deployed a multichannel solution creating seamless touchpoints for end users and the service delivery team, ensuring communication remained consistent and responsive across all channels to reduce service gaps and improve user experience.</a:t>
          </a:r>
        </a:p>
      </dgm:t>
    </dgm:pt>
    <dgm:pt modelId="{B7DD5A99-C972-4867-99F1-9B7A3E6242C3}" type="parTrans" cxnId="{294A1C28-E8A4-4855-B376-DFAA3E3A1A62}">
      <dgm:prSet/>
      <dgm:spPr/>
      <dgm:t>
        <a:bodyPr/>
        <a:lstStyle/>
        <a:p>
          <a:endParaRPr lang="en-US"/>
        </a:p>
      </dgm:t>
    </dgm:pt>
    <dgm:pt modelId="{85774133-0D7C-4B7D-83CA-4373A69EE923}" type="sibTrans" cxnId="{294A1C28-E8A4-4855-B376-DFAA3E3A1A62}">
      <dgm:prSet/>
      <dgm:spPr/>
      <dgm:t>
        <a:bodyPr/>
        <a:lstStyle/>
        <a:p>
          <a:endParaRPr lang="en-US"/>
        </a:p>
      </dgm:t>
    </dgm:pt>
    <dgm:pt modelId="{E88B6A4F-5B5E-4EF8-A5C8-9BE86EACB73F}" type="pres">
      <dgm:prSet presAssocID="{77C31AAC-3671-4973-8409-41D69E55DE48}" presName="diagram" presStyleCnt="0">
        <dgm:presLayoutVars>
          <dgm:dir/>
          <dgm:resizeHandles val="exact"/>
        </dgm:presLayoutVars>
      </dgm:prSet>
      <dgm:spPr/>
    </dgm:pt>
    <dgm:pt modelId="{57563422-E7E5-4D85-9CF0-E2539D00957F}" type="pres">
      <dgm:prSet presAssocID="{205D8068-5746-4311-915E-DCFD04C3AFDB}" presName="node" presStyleLbl="node1" presStyleIdx="0" presStyleCnt="5" custLinFactNeighborX="-305" custLinFactNeighborY="313">
        <dgm:presLayoutVars>
          <dgm:bulletEnabled val="1"/>
        </dgm:presLayoutVars>
      </dgm:prSet>
      <dgm:spPr/>
    </dgm:pt>
    <dgm:pt modelId="{EBC6B0FC-E461-4FA1-BCDA-14CFB137D61A}" type="pres">
      <dgm:prSet presAssocID="{916722A4-1B42-4FB4-918D-BEB8DE259518}" presName="sibTrans" presStyleCnt="0"/>
      <dgm:spPr/>
    </dgm:pt>
    <dgm:pt modelId="{DA799040-2299-4AA0-BAEE-5D16CCE8F61C}" type="pres">
      <dgm:prSet presAssocID="{D3F27B09-70B4-407C-A405-E634F614C474}" presName="node" presStyleLbl="node1" presStyleIdx="1" presStyleCnt="5" custLinFactNeighborX="2023" custLinFactNeighborY="-1357">
        <dgm:presLayoutVars>
          <dgm:bulletEnabled val="1"/>
        </dgm:presLayoutVars>
      </dgm:prSet>
      <dgm:spPr/>
    </dgm:pt>
    <dgm:pt modelId="{203CB00D-6477-4BAB-87B8-8921DAD9744C}" type="pres">
      <dgm:prSet presAssocID="{F04F6CAB-F811-4AE6-A683-08191F57CFAD}" presName="sibTrans" presStyleCnt="0"/>
      <dgm:spPr/>
    </dgm:pt>
    <dgm:pt modelId="{A566F801-E9DC-4E16-8FA4-D1C6AC957314}" type="pres">
      <dgm:prSet presAssocID="{292D439A-6AC4-45DA-B801-C8B2CB72F3ED}" presName="node" presStyleLbl="node1" presStyleIdx="2" presStyleCnt="5" custLinFactNeighborX="70692" custLinFactNeighborY="954">
        <dgm:presLayoutVars>
          <dgm:bulletEnabled val="1"/>
        </dgm:presLayoutVars>
      </dgm:prSet>
      <dgm:spPr/>
    </dgm:pt>
    <dgm:pt modelId="{21F5F7C7-8AB0-4CBD-99F4-7AD05F938D5A}" type="pres">
      <dgm:prSet presAssocID="{89EA9CF3-C64F-483C-9AB9-97C7E5795216}" presName="sibTrans" presStyleCnt="0"/>
      <dgm:spPr/>
    </dgm:pt>
    <dgm:pt modelId="{A77AE6E5-388B-4F27-BB83-2F8B448C36D9}" type="pres">
      <dgm:prSet presAssocID="{AD196464-3633-4157-91C6-F449FC54B645}" presName="node" presStyleLbl="node1" presStyleIdx="3" presStyleCnt="5" custLinFactNeighborX="2023" custLinFactNeighborY="1222">
        <dgm:presLayoutVars>
          <dgm:bulletEnabled val="1"/>
        </dgm:presLayoutVars>
      </dgm:prSet>
      <dgm:spPr/>
    </dgm:pt>
    <dgm:pt modelId="{BF5D9D68-2FA6-4E84-9F4E-862130A3E89E}" type="pres">
      <dgm:prSet presAssocID="{3C7A3669-66A6-4914-AC88-C349B5F5673B}" presName="sibTrans" presStyleCnt="0"/>
      <dgm:spPr/>
    </dgm:pt>
    <dgm:pt modelId="{BAAEC932-B7A2-4949-B4C3-92DC6B9E1048}" type="pres">
      <dgm:prSet presAssocID="{6CA3D0AF-1BDD-4442-BF25-07927A90FEA6}" presName="node" presStyleLbl="node1" presStyleIdx="4" presStyleCnt="5" custLinFactNeighborX="-2141">
        <dgm:presLayoutVars>
          <dgm:bulletEnabled val="1"/>
        </dgm:presLayoutVars>
      </dgm:prSet>
      <dgm:spPr/>
    </dgm:pt>
  </dgm:ptLst>
  <dgm:cxnLst>
    <dgm:cxn modelId="{B26C5E1F-AA95-4876-8173-68D9B148C664}" type="presOf" srcId="{6CA3D0AF-1BDD-4442-BF25-07927A90FEA6}" destId="{BAAEC932-B7A2-4949-B4C3-92DC6B9E1048}" srcOrd="0" destOrd="0" presId="urn:microsoft.com/office/officeart/2005/8/layout/default"/>
    <dgm:cxn modelId="{294A1C28-E8A4-4855-B376-DFAA3E3A1A62}" srcId="{77C31AAC-3671-4973-8409-41D69E55DE48}" destId="{6CA3D0AF-1BDD-4442-BF25-07927A90FEA6}" srcOrd="4" destOrd="0" parTransId="{B7DD5A99-C972-4867-99F1-9B7A3E6242C3}" sibTransId="{85774133-0D7C-4B7D-83CA-4373A69EE923}"/>
    <dgm:cxn modelId="{E774A65C-A6E4-4B7B-870B-08A05721134D}" srcId="{77C31AAC-3671-4973-8409-41D69E55DE48}" destId="{D3F27B09-70B4-407C-A405-E634F614C474}" srcOrd="1" destOrd="0" parTransId="{34EED12B-19C9-4B9A-B4FC-22D3658AB8F0}" sibTransId="{F04F6CAB-F811-4AE6-A683-08191F57CFAD}"/>
    <dgm:cxn modelId="{B90C6257-5E7B-4751-8B92-7E441FAC1DAA}" srcId="{77C31AAC-3671-4973-8409-41D69E55DE48}" destId="{205D8068-5746-4311-915E-DCFD04C3AFDB}" srcOrd="0" destOrd="0" parTransId="{58C7C8CB-5E86-48A7-A788-FBD3CB28F11C}" sibTransId="{916722A4-1B42-4FB4-918D-BEB8DE259518}"/>
    <dgm:cxn modelId="{CB0F7498-174B-4BB9-9A8A-5432924E3E7C}" type="presOf" srcId="{292D439A-6AC4-45DA-B801-C8B2CB72F3ED}" destId="{A566F801-E9DC-4E16-8FA4-D1C6AC957314}" srcOrd="0" destOrd="0" presId="urn:microsoft.com/office/officeart/2005/8/layout/default"/>
    <dgm:cxn modelId="{2F3C15C2-9565-48F0-9BBE-CB4A546DC9D8}" type="presOf" srcId="{AD196464-3633-4157-91C6-F449FC54B645}" destId="{A77AE6E5-388B-4F27-BB83-2F8B448C36D9}" srcOrd="0" destOrd="0" presId="urn:microsoft.com/office/officeart/2005/8/layout/default"/>
    <dgm:cxn modelId="{E7EEA2CB-91AC-46E3-A604-AD3EAF9675CE}" type="presOf" srcId="{77C31AAC-3671-4973-8409-41D69E55DE48}" destId="{E88B6A4F-5B5E-4EF8-A5C8-9BE86EACB73F}" srcOrd="0" destOrd="0" presId="urn:microsoft.com/office/officeart/2005/8/layout/default"/>
    <dgm:cxn modelId="{00E0D3DB-667D-4DA8-B9F7-1B0593DF2998}" srcId="{77C31AAC-3671-4973-8409-41D69E55DE48}" destId="{AD196464-3633-4157-91C6-F449FC54B645}" srcOrd="3" destOrd="0" parTransId="{8F7A924F-A567-494D-B8A8-B3687C576476}" sibTransId="{3C7A3669-66A6-4914-AC88-C349B5F5673B}"/>
    <dgm:cxn modelId="{C938E4EF-A676-4932-8332-BDF4DBF01BB2}" srcId="{77C31AAC-3671-4973-8409-41D69E55DE48}" destId="{292D439A-6AC4-45DA-B801-C8B2CB72F3ED}" srcOrd="2" destOrd="0" parTransId="{4955AC9F-6BCE-48DC-AD2B-D822FAC37746}" sibTransId="{89EA9CF3-C64F-483C-9AB9-97C7E5795216}"/>
    <dgm:cxn modelId="{623DF8F4-B175-4710-B5F9-331B678FD923}" type="presOf" srcId="{D3F27B09-70B4-407C-A405-E634F614C474}" destId="{DA799040-2299-4AA0-BAEE-5D16CCE8F61C}" srcOrd="0" destOrd="0" presId="urn:microsoft.com/office/officeart/2005/8/layout/default"/>
    <dgm:cxn modelId="{4CC54FF5-1A6C-4845-894E-73D636989CB7}" type="presOf" srcId="{205D8068-5746-4311-915E-DCFD04C3AFDB}" destId="{57563422-E7E5-4D85-9CF0-E2539D00957F}" srcOrd="0" destOrd="0" presId="urn:microsoft.com/office/officeart/2005/8/layout/default"/>
    <dgm:cxn modelId="{84CB9D2C-C3CB-4189-BFC0-9DABF4109C9D}" type="presParOf" srcId="{E88B6A4F-5B5E-4EF8-A5C8-9BE86EACB73F}" destId="{57563422-E7E5-4D85-9CF0-E2539D00957F}" srcOrd="0" destOrd="0" presId="urn:microsoft.com/office/officeart/2005/8/layout/default"/>
    <dgm:cxn modelId="{5CBFAB0C-49BA-4AAB-B76F-DD4C0A022F43}" type="presParOf" srcId="{E88B6A4F-5B5E-4EF8-A5C8-9BE86EACB73F}" destId="{EBC6B0FC-E461-4FA1-BCDA-14CFB137D61A}" srcOrd="1" destOrd="0" presId="urn:microsoft.com/office/officeart/2005/8/layout/default"/>
    <dgm:cxn modelId="{8BFFBA22-3515-44B0-B522-A365B8AAE24A}" type="presParOf" srcId="{E88B6A4F-5B5E-4EF8-A5C8-9BE86EACB73F}" destId="{DA799040-2299-4AA0-BAEE-5D16CCE8F61C}" srcOrd="2" destOrd="0" presId="urn:microsoft.com/office/officeart/2005/8/layout/default"/>
    <dgm:cxn modelId="{6A81720D-8622-494E-A147-13ED4DDB6423}" type="presParOf" srcId="{E88B6A4F-5B5E-4EF8-A5C8-9BE86EACB73F}" destId="{203CB00D-6477-4BAB-87B8-8921DAD9744C}" srcOrd="3" destOrd="0" presId="urn:microsoft.com/office/officeart/2005/8/layout/default"/>
    <dgm:cxn modelId="{DF405B25-ABB6-4202-B437-046FCD3B452E}" type="presParOf" srcId="{E88B6A4F-5B5E-4EF8-A5C8-9BE86EACB73F}" destId="{A566F801-E9DC-4E16-8FA4-D1C6AC957314}" srcOrd="4" destOrd="0" presId="urn:microsoft.com/office/officeart/2005/8/layout/default"/>
    <dgm:cxn modelId="{95E3BC92-50E8-4946-89CC-978E34E6C8FE}" type="presParOf" srcId="{E88B6A4F-5B5E-4EF8-A5C8-9BE86EACB73F}" destId="{21F5F7C7-8AB0-4CBD-99F4-7AD05F938D5A}" srcOrd="5" destOrd="0" presId="urn:microsoft.com/office/officeart/2005/8/layout/default"/>
    <dgm:cxn modelId="{B7F338EC-5165-4109-9784-0033B88DF409}" type="presParOf" srcId="{E88B6A4F-5B5E-4EF8-A5C8-9BE86EACB73F}" destId="{A77AE6E5-388B-4F27-BB83-2F8B448C36D9}" srcOrd="6" destOrd="0" presId="urn:microsoft.com/office/officeart/2005/8/layout/default"/>
    <dgm:cxn modelId="{A71181C0-3A92-4DA3-ADC8-BED1C498C6AD}" type="presParOf" srcId="{E88B6A4F-5B5E-4EF8-A5C8-9BE86EACB73F}" destId="{BF5D9D68-2FA6-4E84-9F4E-862130A3E89E}" srcOrd="7" destOrd="0" presId="urn:microsoft.com/office/officeart/2005/8/layout/default"/>
    <dgm:cxn modelId="{3D86DC0E-7600-4301-A9E6-FDBAFFCEF6D3}" type="presParOf" srcId="{E88B6A4F-5B5E-4EF8-A5C8-9BE86EACB73F}" destId="{BAAEC932-B7A2-4949-B4C3-92DC6B9E1048}" srcOrd="8" destOrd="0" presId="urn:microsoft.com/office/officeart/2005/8/layout/default"/>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563422-E7E5-4D85-9CF0-E2539D00957F}">
      <dsp:nvSpPr>
        <dsp:cNvPr id="0" name=""/>
        <dsp:cNvSpPr/>
      </dsp:nvSpPr>
      <dsp:spPr>
        <a:xfrm>
          <a:off x="0" y="475063"/>
          <a:ext cx="2014303" cy="1208582"/>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chemeClr val="tx1"/>
              </a:solidFill>
            </a:rPr>
            <a:t>Women’s Safety &amp; Care</a:t>
          </a:r>
          <a:endParaRPr lang="en-US" sz="900" kern="1200" dirty="0">
            <a:solidFill>
              <a:schemeClr val="tx1"/>
            </a:solidFill>
          </a:endParaRPr>
        </a:p>
        <a:p>
          <a:pPr marL="0" lvl="0" indent="0" algn="ctr" defTabSz="400050">
            <a:lnSpc>
              <a:spcPct val="90000"/>
            </a:lnSpc>
            <a:spcBef>
              <a:spcPct val="0"/>
            </a:spcBef>
            <a:spcAft>
              <a:spcPct val="35000"/>
            </a:spcAft>
            <a:buNone/>
          </a:pPr>
          <a:r>
            <a:rPr lang="en-US" sz="900" kern="1200" dirty="0">
              <a:solidFill>
                <a:schemeClr val="tx1"/>
              </a:solidFill>
            </a:rPr>
            <a:t>Suggested to the client deployment of a SOS facility for female riders and drivers, supported by a 24x7 dedicated helpline, a specialized QA team reviewing safety cases at set intervals, and  follow-up calls for every SOS instance  building trust and reinforcing positive brand sentiment</a:t>
          </a:r>
        </a:p>
      </dsp:txBody>
      <dsp:txXfrm>
        <a:off x="0" y="475063"/>
        <a:ext cx="2014303" cy="1208582"/>
      </dsp:txXfrm>
    </dsp:sp>
    <dsp:sp modelId="{DA799040-2299-4AA0-BAEE-5D16CCE8F61C}">
      <dsp:nvSpPr>
        <dsp:cNvPr id="0" name=""/>
        <dsp:cNvSpPr/>
      </dsp:nvSpPr>
      <dsp:spPr>
        <a:xfrm>
          <a:off x="2256483" y="454880"/>
          <a:ext cx="2014303" cy="1208582"/>
        </a:xfrm>
        <a:prstGeom prst="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chemeClr val="tx1"/>
              </a:solidFill>
            </a:rPr>
            <a:t>Business Growth Support</a:t>
          </a:r>
          <a:r>
            <a:rPr lang="en-US" sz="900" kern="1200" dirty="0">
              <a:solidFill>
                <a:schemeClr val="tx1"/>
              </a:solidFill>
            </a:rPr>
            <a:t> </a:t>
          </a:r>
        </a:p>
        <a:p>
          <a:pPr marL="0" lvl="0" indent="0" algn="ctr" defTabSz="400050">
            <a:lnSpc>
              <a:spcPct val="90000"/>
            </a:lnSpc>
            <a:spcBef>
              <a:spcPct val="0"/>
            </a:spcBef>
            <a:spcAft>
              <a:spcPct val="35000"/>
            </a:spcAft>
            <a:buNone/>
          </a:pPr>
          <a:r>
            <a:rPr lang="en-US" sz="900" kern="1200" dirty="0">
              <a:solidFill>
                <a:schemeClr val="tx1"/>
              </a:solidFill>
            </a:rPr>
            <a:t>Deployed business development support to strengthen partner performance, providing strategic guidance to help partners optimize operations and unlock growth opportunities within the ecosystem.</a:t>
          </a:r>
        </a:p>
      </dsp:txBody>
      <dsp:txXfrm>
        <a:off x="2256483" y="454880"/>
        <a:ext cx="2014303" cy="1208582"/>
      </dsp:txXfrm>
    </dsp:sp>
    <dsp:sp modelId="{A566F801-E9DC-4E16-8FA4-D1C6AC957314}">
      <dsp:nvSpPr>
        <dsp:cNvPr id="0" name=""/>
        <dsp:cNvSpPr/>
      </dsp:nvSpPr>
      <dsp:spPr>
        <a:xfrm>
          <a:off x="4431467" y="482810"/>
          <a:ext cx="2014303" cy="1208582"/>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chemeClr val="tx1"/>
              </a:solidFill>
            </a:rPr>
            <a:t>Performance Enablement</a:t>
          </a:r>
        </a:p>
        <a:p>
          <a:pPr marL="0" lvl="0" indent="0" algn="ctr" defTabSz="400050">
            <a:lnSpc>
              <a:spcPct val="90000"/>
            </a:lnSpc>
            <a:spcBef>
              <a:spcPct val="0"/>
            </a:spcBef>
            <a:spcAft>
              <a:spcPct val="35000"/>
            </a:spcAft>
            <a:buNone/>
          </a:pPr>
          <a:r>
            <a:rPr lang="en-US" sz="900" kern="1200" dirty="0">
              <a:solidFill>
                <a:schemeClr val="tx1"/>
              </a:solidFill>
            </a:rPr>
            <a:t>Implemented the </a:t>
          </a:r>
          <a:r>
            <a:rPr lang="en-US" sz="900" kern="1200" dirty="0" err="1">
              <a:solidFill>
                <a:schemeClr val="tx1"/>
              </a:solidFill>
            </a:rPr>
            <a:t>i</a:t>
          </a:r>
          <a:r>
            <a:rPr lang="en-US" sz="900" kern="1200" dirty="0">
              <a:solidFill>
                <a:schemeClr val="tx1"/>
              </a:solidFill>
            </a:rPr>
            <a:t>-Star program as a structured framework to drive associate productivity, complemented by </a:t>
          </a:r>
          <a:r>
            <a:rPr lang="en-US" sz="900" kern="1200" dirty="0" err="1">
              <a:solidFill>
                <a:schemeClr val="tx1"/>
              </a:solidFill>
            </a:rPr>
            <a:t>outcalling</a:t>
          </a:r>
          <a:r>
            <a:rPr lang="en-US" sz="900" kern="1200" dirty="0">
              <a:solidFill>
                <a:schemeClr val="tx1"/>
              </a:solidFill>
            </a:rPr>
            <a:t> campaigns to re-engage inactive personnel and keep the workforce aligned with operational goals.</a:t>
          </a:r>
        </a:p>
      </dsp:txBody>
      <dsp:txXfrm>
        <a:off x="4431467" y="482810"/>
        <a:ext cx="2014303" cy="1208582"/>
      </dsp:txXfrm>
    </dsp:sp>
    <dsp:sp modelId="{A77AE6E5-388B-4F27-BB83-2F8B448C36D9}">
      <dsp:nvSpPr>
        <dsp:cNvPr id="0" name=""/>
        <dsp:cNvSpPr/>
      </dsp:nvSpPr>
      <dsp:spPr>
        <a:xfrm>
          <a:off x="1148616" y="1896062"/>
          <a:ext cx="2014303" cy="1208582"/>
        </a:xfrm>
        <a:prstGeom prst="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US" sz="900" b="1" kern="1200" dirty="0">
            <a:solidFill>
              <a:schemeClr val="tx1"/>
            </a:solidFill>
          </a:endParaRPr>
        </a:p>
        <a:p>
          <a:pPr marL="0" lvl="0" indent="0" algn="ctr" defTabSz="400050">
            <a:lnSpc>
              <a:spcPct val="90000"/>
            </a:lnSpc>
            <a:spcBef>
              <a:spcPct val="0"/>
            </a:spcBef>
            <a:spcAft>
              <a:spcPct val="35000"/>
            </a:spcAft>
            <a:buNone/>
          </a:pPr>
          <a:r>
            <a:rPr lang="en-US" sz="900" b="1" kern="1200" dirty="0">
              <a:solidFill>
                <a:schemeClr val="tx1"/>
              </a:solidFill>
            </a:rPr>
            <a:t>Multilingual</a:t>
          </a:r>
        </a:p>
        <a:p>
          <a:pPr marL="0" lvl="0" indent="0" algn="ctr" defTabSz="400050">
            <a:lnSpc>
              <a:spcPct val="90000"/>
            </a:lnSpc>
            <a:spcBef>
              <a:spcPct val="0"/>
            </a:spcBef>
            <a:spcAft>
              <a:spcPct val="35000"/>
            </a:spcAft>
            <a:buNone/>
          </a:pPr>
          <a:r>
            <a:rPr lang="en-US" sz="900" b="1" kern="1200" dirty="0">
              <a:solidFill>
                <a:schemeClr val="tx1"/>
              </a:solidFill>
            </a:rPr>
            <a:t>Capability</a:t>
          </a:r>
          <a:r>
            <a:rPr lang="en-US" sz="900" kern="1200" dirty="0">
              <a:solidFill>
                <a:schemeClr val="tx1"/>
              </a:solidFill>
            </a:rPr>
            <a:t> </a:t>
          </a:r>
        </a:p>
        <a:p>
          <a:pPr marL="0" lvl="0" indent="0" algn="ctr" defTabSz="400050">
            <a:lnSpc>
              <a:spcPct val="90000"/>
            </a:lnSpc>
            <a:spcBef>
              <a:spcPct val="0"/>
            </a:spcBef>
            <a:spcAft>
              <a:spcPct val="35000"/>
            </a:spcAft>
            <a:buNone/>
          </a:pPr>
          <a:r>
            <a:rPr lang="en-US" sz="900" kern="1200" dirty="0">
              <a:solidFill>
                <a:schemeClr val="tx1"/>
              </a:solidFill>
            </a:rPr>
            <a:t>Equipped expat associates with targeted vocabulary and grammatical training to bridge language barriers across multiple geographies, ensuring every interaction was handled with clarity and professionalism regardless of regional context.</a:t>
          </a:r>
        </a:p>
        <a:p>
          <a:pPr marL="0" lvl="0" indent="0" algn="ctr" defTabSz="400050">
            <a:lnSpc>
              <a:spcPct val="90000"/>
            </a:lnSpc>
            <a:spcBef>
              <a:spcPct val="0"/>
            </a:spcBef>
            <a:spcAft>
              <a:spcPct val="35000"/>
            </a:spcAft>
            <a:buNone/>
          </a:pPr>
          <a:endParaRPr lang="en-US" sz="900" kern="1200" dirty="0">
            <a:solidFill>
              <a:schemeClr val="tx1"/>
            </a:solidFill>
          </a:endParaRPr>
        </a:p>
      </dsp:txBody>
      <dsp:txXfrm>
        <a:off x="1148616" y="1896062"/>
        <a:ext cx="2014303" cy="1208582"/>
      </dsp:txXfrm>
    </dsp:sp>
    <dsp:sp modelId="{BAAEC932-B7A2-4949-B4C3-92DC6B9E1048}">
      <dsp:nvSpPr>
        <dsp:cNvPr id="0" name=""/>
        <dsp:cNvSpPr/>
      </dsp:nvSpPr>
      <dsp:spPr>
        <a:xfrm>
          <a:off x="3280474" y="1881293"/>
          <a:ext cx="2014303" cy="1208582"/>
        </a:xfrm>
        <a:prstGeom prst="rect">
          <a:avLst/>
        </a:prstGeom>
        <a:solidFill>
          <a:schemeClr val="accent2">
            <a:lumMod val="60000"/>
            <a:lumOff val="4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dirty="0">
              <a:solidFill>
                <a:schemeClr val="tx1"/>
              </a:solidFill>
            </a:rPr>
            <a:t>Multichannel Engagement</a:t>
          </a:r>
          <a:endParaRPr lang="en-US" sz="900" kern="1200" dirty="0">
            <a:solidFill>
              <a:schemeClr val="tx1"/>
            </a:solidFill>
          </a:endParaRPr>
        </a:p>
        <a:p>
          <a:pPr marL="0" lvl="0" indent="0" algn="ctr" defTabSz="400050">
            <a:lnSpc>
              <a:spcPct val="90000"/>
            </a:lnSpc>
            <a:spcBef>
              <a:spcPct val="0"/>
            </a:spcBef>
            <a:spcAft>
              <a:spcPct val="35000"/>
            </a:spcAft>
            <a:buNone/>
          </a:pPr>
          <a:r>
            <a:rPr lang="en-US" sz="900" kern="1200" dirty="0">
              <a:solidFill>
                <a:schemeClr val="tx1"/>
              </a:solidFill>
            </a:rPr>
            <a:t>Deployed a multichannel solution creating seamless touchpoints for end users and the service delivery team, ensuring communication remained consistent and responsive across all channels to reduce service gaps and improve user experience.</a:t>
          </a:r>
        </a:p>
      </dsp:txBody>
      <dsp:txXfrm>
        <a:off x="3280474" y="1881293"/>
        <a:ext cx="2014303" cy="120858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ADE6A-3F40-C34C-9224-E49FA8EE3F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3A4D1B-2970-F4AC-7356-E82FE83046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7D33AD-55FA-3D35-F9F1-01ADA36A0554}"/>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5" name="Footer Placeholder 4">
            <a:extLst>
              <a:ext uri="{FF2B5EF4-FFF2-40B4-BE49-F238E27FC236}">
                <a16:creationId xmlns:a16="http://schemas.microsoft.com/office/drawing/2014/main" id="{185DF02D-F141-F537-ABD5-23BCC38948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D971E-A0B0-1B21-3A5F-5D8E88387C46}"/>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4158064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21490-6C18-F2CB-2896-BC2866FD4D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2B7028-C9B9-FBA0-9336-8130FB8EB3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EA54E0-04F4-288D-0607-5A9DD4F22C88}"/>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5" name="Footer Placeholder 4">
            <a:extLst>
              <a:ext uri="{FF2B5EF4-FFF2-40B4-BE49-F238E27FC236}">
                <a16:creationId xmlns:a16="http://schemas.microsoft.com/office/drawing/2014/main" id="{393FB828-4AB1-5008-E0FE-CC118CE3B1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C619FD-6F73-7294-BB4E-083056E19449}"/>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1590428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C4604-5C2A-D091-09EA-96E8014633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B7EEAA-3A8A-07CB-D41D-A96D88B130D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5C37E2-E777-15D2-BF7D-B1615ED36292}"/>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5" name="Footer Placeholder 4">
            <a:extLst>
              <a:ext uri="{FF2B5EF4-FFF2-40B4-BE49-F238E27FC236}">
                <a16:creationId xmlns:a16="http://schemas.microsoft.com/office/drawing/2014/main" id="{EE35D3DB-8B22-2491-CF7A-1D6DA5A0A6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0D27A6-5048-EB78-D1D4-CCB245D76A59}"/>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441282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971E-F44C-332F-62D5-16C70239F9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396AAC-58F9-6BE5-9E6C-687CE00EF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1FA653-C2FD-BC03-10CD-29A2D26F6A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931F43-C4E5-E69E-121D-2BBB8B027089}"/>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6" name="Footer Placeholder 5">
            <a:extLst>
              <a:ext uri="{FF2B5EF4-FFF2-40B4-BE49-F238E27FC236}">
                <a16:creationId xmlns:a16="http://schemas.microsoft.com/office/drawing/2014/main" id="{9631FEC9-B450-D802-B11A-2B2B798680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3E306C-A893-E37A-ED29-F126EB13150E}"/>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759639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42F9F-96D5-9CE3-9CED-DD84254187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D7AA38-2ADF-56E3-C7AF-61B71D821C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31902C-D183-1474-73A8-92A4629AF9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22A352-BFF1-D298-1D51-B39281027E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19D486-E8C3-28A3-0E18-DA65DBEE4D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C70799-44C1-C7F5-E119-76F6C0BAD245}"/>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8" name="Footer Placeholder 7">
            <a:extLst>
              <a:ext uri="{FF2B5EF4-FFF2-40B4-BE49-F238E27FC236}">
                <a16:creationId xmlns:a16="http://schemas.microsoft.com/office/drawing/2014/main" id="{881103D9-8CA8-5C60-023E-2FAEF4E9C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D6F2C48-5A19-AA06-4172-94EB7AD5168F}"/>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1680550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C8773-D3F5-69CC-6BC0-E4954F8452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EB95A27-F96F-1CE6-C66A-F70EC55D5666}"/>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4" name="Footer Placeholder 3">
            <a:extLst>
              <a:ext uri="{FF2B5EF4-FFF2-40B4-BE49-F238E27FC236}">
                <a16:creationId xmlns:a16="http://schemas.microsoft.com/office/drawing/2014/main" id="{4715CF55-CB32-1576-F009-4A0C1B5F401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3B2BF4-64E6-430D-DC10-4971AD904715}"/>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354613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EA6E73-72BF-54C0-71A0-F0068E8F6AAA}"/>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3" name="Footer Placeholder 2">
            <a:extLst>
              <a:ext uri="{FF2B5EF4-FFF2-40B4-BE49-F238E27FC236}">
                <a16:creationId xmlns:a16="http://schemas.microsoft.com/office/drawing/2014/main" id="{82139634-FBED-51E6-2371-EABAEF38AA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B91F67-133F-CA25-ED91-CA150C8E3B84}"/>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3445663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90DD7-83B9-BD12-B771-83FB15A0EB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552013-0412-6508-30B1-15B721C8EE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6F2B47-CBAF-C4A9-03E0-0D740C22E9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0E654E-2597-74DF-98F7-082A0F40D33E}"/>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6" name="Footer Placeholder 5">
            <a:extLst>
              <a:ext uri="{FF2B5EF4-FFF2-40B4-BE49-F238E27FC236}">
                <a16:creationId xmlns:a16="http://schemas.microsoft.com/office/drawing/2014/main" id="{F7DDC3FA-C8AC-17FD-313E-562343E42D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3C19A2-540F-F0ED-C567-D6D0692CBD87}"/>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4069262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575F-23E4-1400-D26D-61A2DBEBB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5D18A4-0F73-D4E8-F3C8-36CC67F953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AA8F39-6F05-2A3F-8B75-0E0BC25A4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1CA44D-6105-1413-4ADC-05036B08F9D0}"/>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6" name="Footer Placeholder 5">
            <a:extLst>
              <a:ext uri="{FF2B5EF4-FFF2-40B4-BE49-F238E27FC236}">
                <a16:creationId xmlns:a16="http://schemas.microsoft.com/office/drawing/2014/main" id="{02D539E1-3EA1-CE7D-CDF3-4B8329797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157602-1595-F3BA-49BE-E0636716A2B0}"/>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3925025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94BEF-4369-829D-4341-4B581C35496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0CF4C3-D318-A1A3-5178-E5D254229F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1166B0-1370-6A88-F693-1854DC278C64}"/>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5" name="Footer Placeholder 4">
            <a:extLst>
              <a:ext uri="{FF2B5EF4-FFF2-40B4-BE49-F238E27FC236}">
                <a16:creationId xmlns:a16="http://schemas.microsoft.com/office/drawing/2014/main" id="{3F9A2FAC-2C92-7631-EAAC-7383CC4608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844F8E-7924-C424-97A3-6211593A316C}"/>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1528128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1C80DD-A9F3-7671-E543-E0143F82FC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F6C001-4DB3-D5A8-D969-25D3EE2578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71C7E-777B-C44F-79A2-DDFDDD55C952}"/>
              </a:ext>
            </a:extLst>
          </p:cNvPr>
          <p:cNvSpPr>
            <a:spLocks noGrp="1"/>
          </p:cNvSpPr>
          <p:nvPr>
            <p:ph type="dt" sz="half" idx="10"/>
          </p:nvPr>
        </p:nvSpPr>
        <p:spPr/>
        <p:txBody>
          <a:bodyPr/>
          <a:lstStyle/>
          <a:p>
            <a:fld id="{B4D6927A-D6AA-40EE-AD53-B11C0313092D}" type="datetimeFigureOut">
              <a:rPr lang="en-US" smtClean="0"/>
              <a:t>2/24/2026</a:t>
            </a:fld>
            <a:endParaRPr lang="en-US"/>
          </a:p>
        </p:txBody>
      </p:sp>
      <p:sp>
        <p:nvSpPr>
          <p:cNvPr id="5" name="Footer Placeholder 4">
            <a:extLst>
              <a:ext uri="{FF2B5EF4-FFF2-40B4-BE49-F238E27FC236}">
                <a16:creationId xmlns:a16="http://schemas.microsoft.com/office/drawing/2014/main" id="{49222BDA-56FC-45ED-0524-A35F8CCF69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3034E-7B64-301C-DC06-0D48DDB5EDCE}"/>
              </a:ext>
            </a:extLst>
          </p:cNvPr>
          <p:cNvSpPr>
            <a:spLocks noGrp="1"/>
          </p:cNvSpPr>
          <p:nvPr>
            <p:ph type="sldNum" sz="quarter" idx="12"/>
          </p:nvPr>
        </p:nvSpPr>
        <p:spPr/>
        <p:txBody>
          <a:bodyPr/>
          <a:lstStyle/>
          <a:p>
            <a:fld id="{3C3386EF-3934-4412-B148-8EA0D1C9FACA}" type="slidenum">
              <a:rPr lang="en-US" smtClean="0"/>
              <a:t>‹#›</a:t>
            </a:fld>
            <a:endParaRPr lang="en-US"/>
          </a:p>
        </p:txBody>
      </p:sp>
    </p:spTree>
    <p:extLst>
      <p:ext uri="{BB962C8B-B14F-4D97-AF65-F5344CB8AC3E}">
        <p14:creationId xmlns:p14="http://schemas.microsoft.com/office/powerpoint/2010/main" val="2388782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2FF1A1-46F9-1D89-CF3D-9127E4F127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4B0DC0-9AC4-03D0-671E-04740CA174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6F1B84-B5EB-94E2-22BC-3CEC303876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D6927A-D6AA-40EE-AD53-B11C0313092D}" type="datetimeFigureOut">
              <a:rPr lang="en-US" smtClean="0"/>
              <a:t>2/24/2026</a:t>
            </a:fld>
            <a:endParaRPr lang="en-US"/>
          </a:p>
        </p:txBody>
      </p:sp>
      <p:sp>
        <p:nvSpPr>
          <p:cNvPr id="5" name="Footer Placeholder 4">
            <a:extLst>
              <a:ext uri="{FF2B5EF4-FFF2-40B4-BE49-F238E27FC236}">
                <a16:creationId xmlns:a16="http://schemas.microsoft.com/office/drawing/2014/main" id="{5A3B3513-AE45-A1DE-E675-DBA92F7C08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7BEC49-085E-270C-BEA4-B0DEDFCC50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3386EF-3934-4412-B148-8EA0D1C9FACA}" type="slidenum">
              <a:rPr lang="en-US" smtClean="0"/>
              <a:t>‹#›</a:t>
            </a:fld>
            <a:endParaRPr lang="en-US"/>
          </a:p>
        </p:txBody>
      </p:sp>
    </p:spTree>
    <p:extLst>
      <p:ext uri="{BB962C8B-B14F-4D97-AF65-F5344CB8AC3E}">
        <p14:creationId xmlns:p14="http://schemas.microsoft.com/office/powerpoint/2010/main" val="1885482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image" Target="../media/image1.jpeg"/><Relationship Id="rId16"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chart" Target="../charts/chart1.xml"/><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7.png"/><Relationship Id="rId18" Type="http://schemas.openxmlformats.org/officeDocument/2006/relationships/image" Target="../media/image16.png"/><Relationship Id="rId3" Type="http://schemas.openxmlformats.org/officeDocument/2006/relationships/image" Target="../media/image18.png"/><Relationship Id="rId21" Type="http://schemas.openxmlformats.org/officeDocument/2006/relationships/diagramQuickStyle" Target="../diagrams/quickStyle1.xml"/><Relationship Id="rId7" Type="http://schemas.openxmlformats.org/officeDocument/2006/relationships/image" Target="../media/image10.svg"/><Relationship Id="rId12" Type="http://schemas.openxmlformats.org/officeDocument/2006/relationships/image" Target="../media/image22.svg"/><Relationship Id="rId17" Type="http://schemas.openxmlformats.org/officeDocument/2006/relationships/image" Target="../media/image15.png"/><Relationship Id="rId2" Type="http://schemas.openxmlformats.org/officeDocument/2006/relationships/image" Target="../media/image17.png"/><Relationship Id="rId16" Type="http://schemas.openxmlformats.org/officeDocument/2006/relationships/image" Target="../media/image14.svg"/><Relationship Id="rId20" Type="http://schemas.openxmlformats.org/officeDocument/2006/relationships/diagramLayout" Target="../diagrams/layout1.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1.png"/><Relationship Id="rId5" Type="http://schemas.openxmlformats.org/officeDocument/2006/relationships/image" Target="../media/image4.svg"/><Relationship Id="rId15" Type="http://schemas.openxmlformats.org/officeDocument/2006/relationships/image" Target="../media/image13.png"/><Relationship Id="rId23" Type="http://schemas.microsoft.com/office/2007/relationships/diagramDrawing" Target="../diagrams/drawing1.xml"/><Relationship Id="rId10" Type="http://schemas.openxmlformats.org/officeDocument/2006/relationships/image" Target="../media/image20.svg"/><Relationship Id="rId19" Type="http://schemas.openxmlformats.org/officeDocument/2006/relationships/diagramData" Target="../diagrams/data1.xml"/><Relationship Id="rId4" Type="http://schemas.openxmlformats.org/officeDocument/2006/relationships/image" Target="../media/image3.png"/><Relationship Id="rId9" Type="http://schemas.openxmlformats.org/officeDocument/2006/relationships/image" Target="../media/image19.png"/><Relationship Id="rId14" Type="http://schemas.openxmlformats.org/officeDocument/2006/relationships/image" Target="../media/image8.svg"/><Relationship Id="rId22" Type="http://schemas.openxmlformats.org/officeDocument/2006/relationships/diagramColors" Target="../diagrams/colors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AE16-1CD3-395D-EA12-DE44144BE850}"/>
            </a:ext>
          </a:extLst>
        </p:cNvPr>
        <p:cNvGrpSpPr/>
        <p:nvPr/>
      </p:nvGrpSpPr>
      <p:grpSpPr>
        <a:xfrm>
          <a:off x="0" y="0"/>
          <a:ext cx="0" cy="0"/>
          <a:chOff x="0" y="0"/>
          <a:chExt cx="0" cy="0"/>
        </a:xfrm>
      </p:grpSpPr>
      <p:sp>
        <p:nvSpPr>
          <p:cNvPr id="94" name="Flowchart: Alternate Process 93">
            <a:extLst>
              <a:ext uri="{FF2B5EF4-FFF2-40B4-BE49-F238E27FC236}">
                <a16:creationId xmlns:a16="http://schemas.microsoft.com/office/drawing/2014/main" id="{3ADB0E4B-80C1-8FA1-E566-313AB576B211}"/>
              </a:ext>
            </a:extLst>
          </p:cNvPr>
          <p:cNvSpPr/>
          <p:nvPr/>
        </p:nvSpPr>
        <p:spPr>
          <a:xfrm>
            <a:off x="8414147" y="5037016"/>
            <a:ext cx="3672412" cy="1633306"/>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7A2206D9-23A7-3F59-2825-3B1175FEEC3C}"/>
              </a:ext>
            </a:extLst>
          </p:cNvPr>
          <p:cNvGrpSpPr/>
          <p:nvPr/>
        </p:nvGrpSpPr>
        <p:grpSpPr>
          <a:xfrm>
            <a:off x="9807889" y="1432712"/>
            <a:ext cx="2314838" cy="3495630"/>
            <a:chOff x="7379705" y="1043094"/>
            <a:chExt cx="2327407" cy="3879234"/>
          </a:xfrm>
        </p:grpSpPr>
        <p:grpSp>
          <p:nvGrpSpPr>
            <p:cNvPr id="6" name="Group 5">
              <a:extLst>
                <a:ext uri="{FF2B5EF4-FFF2-40B4-BE49-F238E27FC236}">
                  <a16:creationId xmlns:a16="http://schemas.microsoft.com/office/drawing/2014/main" id="{B708B84D-FBC6-AA63-7D78-EA564F826EAF}"/>
                </a:ext>
              </a:extLst>
            </p:cNvPr>
            <p:cNvGrpSpPr/>
            <p:nvPr/>
          </p:nvGrpSpPr>
          <p:grpSpPr>
            <a:xfrm>
              <a:off x="7388062" y="1043094"/>
              <a:ext cx="2319050" cy="3879234"/>
              <a:chOff x="8059789" y="2452069"/>
              <a:chExt cx="1804720" cy="1393949"/>
            </a:xfrm>
          </p:grpSpPr>
          <p:sp>
            <p:nvSpPr>
              <p:cNvPr id="11" name="TextBox 10">
                <a:extLst>
                  <a:ext uri="{FF2B5EF4-FFF2-40B4-BE49-F238E27FC236}">
                    <a16:creationId xmlns:a16="http://schemas.microsoft.com/office/drawing/2014/main" id="{DF1994FA-A0F0-2A68-B13A-CE88AA7D9D52}"/>
                  </a:ext>
                </a:extLst>
              </p:cNvPr>
              <p:cNvSpPr txBox="1"/>
              <p:nvPr/>
            </p:nvSpPr>
            <p:spPr>
              <a:xfrm>
                <a:off x="8217545" y="2464667"/>
                <a:ext cx="1646964" cy="1381351"/>
              </a:xfrm>
              <a:prstGeom prst="rect">
                <a:avLst/>
              </a:prstGeom>
              <a:solidFill>
                <a:srgbClr val="FF00FF"/>
              </a:solidFill>
              <a:effectLst>
                <a:softEdge rad="31750"/>
              </a:effectLst>
              <a:scene3d>
                <a:camera prst="orthographicFront"/>
                <a:lightRig rig="threePt" dir="t"/>
              </a:scene3d>
              <a:sp3d>
                <a:bevelT w="165100" prst="coolSlant"/>
              </a:sp3d>
            </p:spPr>
            <p:txBody>
              <a:bodyPr wrap="square" rtlCol="0">
                <a:spAutoFit/>
              </a:bodyPr>
              <a:lstStyle/>
              <a:p>
                <a:endParaRPr lang="en-US" dirty="0"/>
              </a:p>
            </p:txBody>
          </p:sp>
          <p:sp>
            <p:nvSpPr>
              <p:cNvPr id="12" name="TextBox 11">
                <a:extLst>
                  <a:ext uri="{FF2B5EF4-FFF2-40B4-BE49-F238E27FC236}">
                    <a16:creationId xmlns:a16="http://schemas.microsoft.com/office/drawing/2014/main" id="{BAD1DDDA-7CC5-6D8B-9431-7D7814E95767}"/>
                  </a:ext>
                </a:extLst>
              </p:cNvPr>
              <p:cNvSpPr txBox="1"/>
              <p:nvPr/>
            </p:nvSpPr>
            <p:spPr>
              <a:xfrm>
                <a:off x="8059789" y="2452069"/>
                <a:ext cx="1661335" cy="1341765"/>
              </a:xfrm>
              <a:prstGeom prst="rect">
                <a:avLst/>
              </a:prstGeom>
              <a:solidFill>
                <a:schemeClr val="tx1"/>
              </a:solidFill>
              <a:effectLst/>
              <a:scene3d>
                <a:camera prst="orthographicFront"/>
                <a:lightRig rig="threePt" dir="t"/>
              </a:scene3d>
              <a:sp3d>
                <a:bevelT prst="slope"/>
              </a:sp3d>
            </p:spPr>
            <p:txBody>
              <a:bodyPr wrap="square" rtlCol="0">
                <a:spAutoFit/>
              </a:bodyPr>
              <a:lstStyle/>
              <a:p>
                <a:endParaRPr lang="en-US" dirty="0"/>
              </a:p>
            </p:txBody>
          </p:sp>
          <p:sp>
            <p:nvSpPr>
              <p:cNvPr id="13" name="TextBox 12">
                <a:extLst>
                  <a:ext uri="{FF2B5EF4-FFF2-40B4-BE49-F238E27FC236}">
                    <a16:creationId xmlns:a16="http://schemas.microsoft.com/office/drawing/2014/main" id="{65ABFFF7-1EEC-63A3-0CC2-0150BE75B6CC}"/>
                  </a:ext>
                </a:extLst>
              </p:cNvPr>
              <p:cNvSpPr txBox="1"/>
              <p:nvPr/>
            </p:nvSpPr>
            <p:spPr>
              <a:xfrm>
                <a:off x="8218933" y="2526296"/>
                <a:ext cx="1509683" cy="1183815"/>
              </a:xfrm>
              <a:prstGeom prst="rect">
                <a:avLst/>
              </a:prstGeom>
              <a:solidFill>
                <a:schemeClr val="bg1"/>
              </a:solidFill>
              <a:effectLst>
                <a:softEdge rad="12700"/>
              </a:effectLst>
              <a:scene3d>
                <a:camera prst="orthographicFront"/>
                <a:lightRig rig="threePt" dir="t"/>
              </a:scene3d>
              <a:sp3d>
                <a:bevelT w="165100" prst="coolSlant"/>
              </a:sp3d>
            </p:spPr>
            <p:txBody>
              <a:bodyPr wrap="square" rtlCol="0">
                <a:spAutoFit/>
              </a:bodyPr>
              <a:lstStyle/>
              <a:p>
                <a:endParaRPr lang="en-US" dirty="0"/>
              </a:p>
            </p:txBody>
          </p:sp>
        </p:grpSp>
        <p:sp>
          <p:nvSpPr>
            <p:cNvPr id="7" name="TextBox 6">
              <a:extLst>
                <a:ext uri="{FF2B5EF4-FFF2-40B4-BE49-F238E27FC236}">
                  <a16:creationId xmlns:a16="http://schemas.microsoft.com/office/drawing/2014/main" id="{518815C9-E11E-A5AF-DE83-DA6356A3DA82}"/>
                </a:ext>
              </a:extLst>
            </p:cNvPr>
            <p:cNvSpPr txBox="1"/>
            <p:nvPr/>
          </p:nvSpPr>
          <p:spPr>
            <a:xfrm>
              <a:off x="7998951" y="2092195"/>
              <a:ext cx="1432451" cy="1263740"/>
            </a:xfrm>
            <a:prstGeom prst="rect">
              <a:avLst/>
            </a:prstGeom>
            <a:noFill/>
          </p:spPr>
          <p:txBody>
            <a:bodyPr wrap="square" rtlCol="0">
              <a:spAutoFit/>
            </a:bodyPr>
            <a:lstStyle/>
            <a:p>
              <a:pPr lvl="0">
                <a:defRPr/>
              </a:pPr>
              <a:r>
                <a:rPr lang="en-US" sz="2800" b="1" dirty="0">
                  <a:solidFill>
                    <a:schemeClr val="accent2"/>
                  </a:solidFill>
                  <a:latin typeface="Verdana"/>
                  <a:ea typeface="Verdana"/>
                  <a:cs typeface="Arial"/>
                </a:rPr>
                <a:t>99%</a:t>
              </a:r>
            </a:p>
            <a:p>
              <a:pPr lvl="0">
                <a:defRPr/>
              </a:pPr>
              <a:r>
                <a:rPr lang="en-US" sz="1000" b="1" dirty="0">
                  <a:latin typeface="Verdana"/>
                  <a:ea typeface="Verdana"/>
                  <a:cs typeface="Arial"/>
                </a:rPr>
                <a:t>of Complaints closed within the time frame of 3 hours</a:t>
              </a:r>
              <a:endParaRPr lang="en-US" sz="1000" b="1" dirty="0">
                <a:latin typeface="Verdana"/>
                <a:ea typeface="Verdana"/>
              </a:endParaRPr>
            </a:p>
          </p:txBody>
        </p:sp>
        <p:sp>
          <p:nvSpPr>
            <p:cNvPr id="8" name="TextBox 7">
              <a:extLst>
                <a:ext uri="{FF2B5EF4-FFF2-40B4-BE49-F238E27FC236}">
                  <a16:creationId xmlns:a16="http://schemas.microsoft.com/office/drawing/2014/main" id="{A10AE708-213D-9DFD-CBBB-A6AA06B6E48F}"/>
                </a:ext>
              </a:extLst>
            </p:cNvPr>
            <p:cNvSpPr txBox="1"/>
            <p:nvPr/>
          </p:nvSpPr>
          <p:spPr>
            <a:xfrm>
              <a:off x="7573390" y="1211203"/>
              <a:ext cx="1832568" cy="9904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accent2"/>
                  </a:solidFill>
                  <a:effectLst/>
                  <a:uLnTx/>
                  <a:uFillTx/>
                  <a:latin typeface="Verdana"/>
                  <a:ea typeface="Verdana"/>
                  <a:cs typeface="Arial"/>
                </a:rPr>
                <a:t>90%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effectLst/>
                  <a:uLnTx/>
                  <a:uFillTx/>
                  <a:latin typeface="Verdana"/>
                  <a:ea typeface="Verdana"/>
                  <a:cs typeface="Arial"/>
                </a:rPr>
                <a:t>Cases  responded to within 2 minutes</a:t>
              </a:r>
            </a:p>
          </p:txBody>
        </p:sp>
        <p:sp>
          <p:nvSpPr>
            <p:cNvPr id="9" name="TextBox 8">
              <a:extLst>
                <a:ext uri="{FF2B5EF4-FFF2-40B4-BE49-F238E27FC236}">
                  <a16:creationId xmlns:a16="http://schemas.microsoft.com/office/drawing/2014/main" id="{6F788ADE-3D4A-4895-73E2-DE7229313E86}"/>
                </a:ext>
              </a:extLst>
            </p:cNvPr>
            <p:cNvSpPr txBox="1"/>
            <p:nvPr/>
          </p:nvSpPr>
          <p:spPr>
            <a:xfrm>
              <a:off x="7671204" y="3228081"/>
              <a:ext cx="1749863" cy="12637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accent2"/>
                  </a:solidFill>
                  <a:effectLst/>
                  <a:uLnTx/>
                  <a:uFillTx/>
                  <a:latin typeface="Verdana"/>
                  <a:ea typeface="+mn-ea"/>
                  <a:cs typeface="+mn-cs"/>
                </a:rPr>
                <a:t>4%</a:t>
              </a:r>
              <a:r>
                <a:rPr kumimoji="0" lang="en-US" sz="2800" b="1" i="0" u="none" strike="noStrike" kern="1200" cap="none" spc="0" normalizeH="0" baseline="0" noProof="0" dirty="0">
                  <a:ln>
                    <a:noFill/>
                  </a:ln>
                  <a:effectLst/>
                  <a:uLnTx/>
                  <a:uFillTx/>
                  <a:latin typeface="Verdana"/>
                  <a:ea typeface="+mn-ea"/>
                  <a:cs typeface="+mn-cs"/>
                </a:rPr>
                <a:t> </a:t>
              </a:r>
              <a:r>
                <a:rPr kumimoji="0" lang="en-US" sz="1000" b="1" i="0" u="none" strike="noStrike" kern="1200" cap="none" spc="0" normalizeH="0" baseline="0" noProof="0" dirty="0">
                  <a:ln>
                    <a:noFill/>
                  </a:ln>
                  <a:effectLst/>
                  <a:uLnTx/>
                  <a:uFillTx/>
                  <a:latin typeface="Verdana"/>
                  <a:ea typeface="+mn-ea"/>
                  <a:cs typeface="+mn-cs"/>
                </a:rPr>
                <a:t>reduction in calls from modification of partner outreach process</a:t>
              </a:r>
            </a:p>
          </p:txBody>
        </p:sp>
        <p:pic>
          <p:nvPicPr>
            <p:cNvPr id="10" name="Picture 9" descr="A gold star on a white background&#10;&#10;Description automatically generated">
              <a:extLst>
                <a:ext uri="{FF2B5EF4-FFF2-40B4-BE49-F238E27FC236}">
                  <a16:creationId xmlns:a16="http://schemas.microsoft.com/office/drawing/2014/main" id="{48F630B6-4B95-90AE-8E79-C59EF391B6E4}"/>
                </a:ext>
              </a:extLst>
            </p:cNvPr>
            <p:cNvPicPr>
              <a:picLocks noChangeAspect="1"/>
            </p:cNvPicPr>
            <p:nvPr/>
          </p:nvPicPr>
          <p:blipFill rotWithShape="1">
            <a:blip r:embed="rId2">
              <a:clrChange>
                <a:clrFrom>
                  <a:srgbClr val="FFFFFF"/>
                </a:clrFrom>
                <a:clrTo>
                  <a:srgbClr val="FFFFFF">
                    <a:alpha val="0"/>
                  </a:srgbClr>
                </a:clrTo>
              </a:clrChange>
              <a:duotone>
                <a:prstClr val="black"/>
                <a:schemeClr val="accent2">
                  <a:tint val="45000"/>
                  <a:satMod val="400000"/>
                </a:schemeClr>
              </a:duotone>
              <a:extLst>
                <a:ext uri="{28A0092B-C50C-407E-A947-70E740481C1C}">
                  <a14:useLocalDpi xmlns:a14="http://schemas.microsoft.com/office/drawing/2010/main" val="0"/>
                </a:ext>
              </a:extLst>
            </a:blip>
            <a:srcRect b="1408"/>
            <a:stretch/>
          </p:blipFill>
          <p:spPr>
            <a:xfrm>
              <a:off x="7379705" y="2595826"/>
              <a:ext cx="369027" cy="337675"/>
            </a:xfrm>
            <a:prstGeom prst="rect">
              <a:avLst/>
            </a:prstGeom>
            <a:solidFill>
              <a:schemeClr val="bg1">
                <a:lumMod val="95000"/>
              </a:schemeClr>
            </a:solidFill>
          </p:spPr>
        </p:pic>
      </p:grpSp>
      <p:pic>
        <p:nvPicPr>
          <p:cNvPr id="24" name="Picture 23">
            <a:extLst>
              <a:ext uri="{FF2B5EF4-FFF2-40B4-BE49-F238E27FC236}">
                <a16:creationId xmlns:a16="http://schemas.microsoft.com/office/drawing/2014/main" id="{12B4DB7B-A01B-EDBD-260A-5894BFA81A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49296" y="177883"/>
            <a:ext cx="1373431" cy="400855"/>
          </a:xfrm>
          <a:prstGeom prst="rect">
            <a:avLst/>
          </a:prstGeom>
        </p:spPr>
      </p:pic>
      <p:sp>
        <p:nvSpPr>
          <p:cNvPr id="25" name="TextBox 24">
            <a:extLst>
              <a:ext uri="{FF2B5EF4-FFF2-40B4-BE49-F238E27FC236}">
                <a16:creationId xmlns:a16="http://schemas.microsoft.com/office/drawing/2014/main" id="{054324B5-B993-0AFE-7562-D91F0C34B775}"/>
              </a:ext>
            </a:extLst>
          </p:cNvPr>
          <p:cNvSpPr txBox="1"/>
          <p:nvPr/>
        </p:nvSpPr>
        <p:spPr>
          <a:xfrm>
            <a:off x="30410" y="79543"/>
            <a:ext cx="10005568" cy="861774"/>
          </a:xfrm>
          <a:prstGeom prst="rect">
            <a:avLst/>
          </a:prstGeom>
          <a:noFill/>
        </p:spPr>
        <p:txBody>
          <a:bodyPr wrap="square">
            <a:spAutoFit/>
          </a:bodyPr>
          <a:lstStyle/>
          <a:p>
            <a:pPr>
              <a:defRPr sz="1600">
                <a:solidFill>
                  <a:srgbClr val="028090"/>
                </a:solidFill>
              </a:defRPr>
            </a:pPr>
            <a:r>
              <a:rPr lang="en-US" sz="2800" b="1" dirty="0">
                <a:solidFill>
                  <a:schemeClr val="accent4">
                    <a:lumMod val="75000"/>
                  </a:schemeClr>
                </a:solidFill>
              </a:rPr>
              <a:t>CUSTOMER EXPERIENCE TRANSFORMATION.</a:t>
            </a:r>
          </a:p>
          <a:p>
            <a:pPr>
              <a:defRPr sz="1600">
                <a:solidFill>
                  <a:srgbClr val="028090"/>
                </a:solidFill>
              </a:defRPr>
            </a:pPr>
            <a:r>
              <a:rPr lang="en-US" sz="2200" b="1" i="1" dirty="0">
                <a:solidFill>
                  <a:schemeClr val="accent4">
                    <a:lumMod val="75000"/>
                  </a:schemeClr>
                </a:solidFill>
              </a:rPr>
              <a:t>Multi-Channel Excellence &amp; Women Safety Initiative.</a:t>
            </a:r>
          </a:p>
        </p:txBody>
      </p:sp>
      <p:sp>
        <p:nvSpPr>
          <p:cNvPr id="26" name="TextBox 25">
            <a:extLst>
              <a:ext uri="{FF2B5EF4-FFF2-40B4-BE49-F238E27FC236}">
                <a16:creationId xmlns:a16="http://schemas.microsoft.com/office/drawing/2014/main" id="{19A518EE-A631-E73E-2094-9DC8B01EB4C6}"/>
              </a:ext>
            </a:extLst>
          </p:cNvPr>
          <p:cNvSpPr txBox="1"/>
          <p:nvPr/>
        </p:nvSpPr>
        <p:spPr>
          <a:xfrm>
            <a:off x="0" y="1002083"/>
            <a:ext cx="12204272" cy="584775"/>
          </a:xfrm>
          <a:prstGeom prst="rect">
            <a:avLst/>
          </a:prstGeom>
          <a:noFill/>
        </p:spPr>
        <p:txBody>
          <a:bodyPr wrap="square" rtlCol="0">
            <a:spAutoFit/>
          </a:bodyPr>
          <a:lstStyle/>
          <a:p>
            <a:r>
              <a:rPr lang="en-US" sz="1050" b="1" dirty="0"/>
              <a:t>Our client ,Uber  is a leading global mobility and ride sharing company operating in hundreds of cities worldwide. The platform connects millions of riders with drivers and delivery partners, offering reliable, convenient, and technology driven transportation and delivery services. Uber is committed to safety, innovation, and providing seamless experiences for its customers across multiple channels</a:t>
            </a:r>
            <a:r>
              <a:rPr lang="en-US" sz="1100" b="1" dirty="0"/>
              <a:t>.</a:t>
            </a:r>
          </a:p>
        </p:txBody>
      </p:sp>
      <p:sp>
        <p:nvSpPr>
          <p:cNvPr id="27" name="TextBox 26">
            <a:extLst>
              <a:ext uri="{FF2B5EF4-FFF2-40B4-BE49-F238E27FC236}">
                <a16:creationId xmlns:a16="http://schemas.microsoft.com/office/drawing/2014/main" id="{2E3AE1A8-48EA-E6DF-2FC3-2E5481FE9AF6}"/>
              </a:ext>
            </a:extLst>
          </p:cNvPr>
          <p:cNvSpPr txBox="1"/>
          <p:nvPr/>
        </p:nvSpPr>
        <p:spPr>
          <a:xfrm>
            <a:off x="0" y="1452884"/>
            <a:ext cx="6661398" cy="1107996"/>
          </a:xfrm>
          <a:prstGeom prst="rect">
            <a:avLst/>
          </a:prstGeom>
          <a:noFill/>
        </p:spPr>
        <p:txBody>
          <a:bodyPr wrap="square" rtlCol="0">
            <a:spAutoFit/>
          </a:bodyPr>
          <a:lstStyle/>
          <a:p>
            <a:r>
              <a:rPr lang="en-US" sz="1600" b="1" dirty="0">
                <a:solidFill>
                  <a:schemeClr val="accent4">
                    <a:lumMod val="75000"/>
                  </a:schemeClr>
                </a:solidFill>
              </a:rPr>
              <a:t>The challenge.</a:t>
            </a:r>
            <a:endParaRPr lang="en-US" sz="1600" dirty="0">
              <a:solidFill>
                <a:schemeClr val="accent4">
                  <a:lumMod val="75000"/>
                </a:schemeClr>
              </a:solidFill>
            </a:endParaRPr>
          </a:p>
          <a:p>
            <a:r>
              <a:rPr lang="en-US" sz="1000" dirty="0"/>
              <a:t>The company faced significant challenges in managing real-time safety concerns raised by female customers. Complaint registration was slow, and responses during critical incidents were often delayed, leading to growing dissatisfaction. Operational effectiveness was further strained by compliance requirements and the expanding gig workforce delivering services. Negative feedback on social media amplified the reputational risk, creating an urgent need for a responsive, efficient, and scalable safety management solution.</a:t>
            </a:r>
          </a:p>
        </p:txBody>
      </p:sp>
      <p:grpSp>
        <p:nvGrpSpPr>
          <p:cNvPr id="92" name="Group 91">
            <a:extLst>
              <a:ext uri="{FF2B5EF4-FFF2-40B4-BE49-F238E27FC236}">
                <a16:creationId xmlns:a16="http://schemas.microsoft.com/office/drawing/2014/main" id="{4D34454F-A0E9-4115-B3FA-AE0FE07EB1E8}"/>
              </a:ext>
            </a:extLst>
          </p:cNvPr>
          <p:cNvGrpSpPr/>
          <p:nvPr/>
        </p:nvGrpSpPr>
        <p:grpSpPr>
          <a:xfrm>
            <a:off x="8556366" y="5079121"/>
            <a:ext cx="3333143" cy="1499625"/>
            <a:chOff x="6355684" y="5020737"/>
            <a:chExt cx="3738288" cy="1499625"/>
          </a:xfrm>
        </p:grpSpPr>
        <p:graphicFrame>
          <p:nvGraphicFramePr>
            <p:cNvPr id="31" name="Chart 30">
              <a:extLst>
                <a:ext uri="{FF2B5EF4-FFF2-40B4-BE49-F238E27FC236}">
                  <a16:creationId xmlns:a16="http://schemas.microsoft.com/office/drawing/2014/main" id="{BE7193C8-3E75-CF81-E79B-F17BF6760857}"/>
                </a:ext>
              </a:extLst>
            </p:cNvPr>
            <p:cNvGraphicFramePr/>
            <p:nvPr/>
          </p:nvGraphicFramePr>
          <p:xfrm>
            <a:off x="6355684" y="5020737"/>
            <a:ext cx="3738288" cy="988345"/>
          </p:xfrm>
          <a:graphic>
            <a:graphicData uri="http://schemas.openxmlformats.org/drawingml/2006/chart">
              <c:chart xmlns:c="http://schemas.openxmlformats.org/drawingml/2006/chart" xmlns:r="http://schemas.openxmlformats.org/officeDocument/2006/relationships" r:id="rId4"/>
            </a:graphicData>
          </a:graphic>
        </p:graphicFrame>
        <p:sp>
          <p:nvSpPr>
            <p:cNvPr id="33" name="TextBox 32">
              <a:extLst>
                <a:ext uri="{FF2B5EF4-FFF2-40B4-BE49-F238E27FC236}">
                  <a16:creationId xmlns:a16="http://schemas.microsoft.com/office/drawing/2014/main" id="{EE145C03-9423-BEA5-568E-3EA083BB26DA}"/>
                </a:ext>
              </a:extLst>
            </p:cNvPr>
            <p:cNvSpPr txBox="1"/>
            <p:nvPr/>
          </p:nvSpPr>
          <p:spPr>
            <a:xfrm>
              <a:off x="7637816" y="6036551"/>
              <a:ext cx="963720" cy="4743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chemeClr val="accent2"/>
                  </a:solidFill>
                  <a:effectLst/>
                  <a:uLnTx/>
                  <a:uFillTx/>
                  <a:latin typeface="Verdana"/>
                  <a:ea typeface="+mn-ea"/>
                  <a:cs typeface="+mn-cs"/>
                </a:rPr>
                <a:t>3% </a:t>
              </a:r>
              <a:r>
                <a:rPr kumimoji="0" lang="en-US" sz="800" b="1" i="0" u="none" strike="noStrike" kern="1200" cap="none" spc="0" normalizeH="0" baseline="0" noProof="0" dirty="0">
                  <a:ln>
                    <a:noFill/>
                  </a:ln>
                  <a:solidFill>
                    <a:srgbClr val="30302D"/>
                  </a:solidFill>
                  <a:effectLst/>
                  <a:uLnTx/>
                  <a:uFillTx/>
                  <a:latin typeface="Verdana"/>
                  <a:ea typeface="+mn-ea"/>
                  <a:cs typeface="+mn-cs"/>
                </a:rPr>
                <a:t>Overall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30302D"/>
                  </a:solidFill>
                  <a:effectLst/>
                  <a:uLnTx/>
                  <a:uFillTx/>
                  <a:latin typeface="Verdana"/>
                  <a:ea typeface="+mn-ea"/>
                  <a:cs typeface="+mn-cs"/>
                </a:rPr>
                <a:t>increase in CSAT</a:t>
              </a:r>
            </a:p>
          </p:txBody>
        </p:sp>
        <p:sp>
          <p:nvSpPr>
            <p:cNvPr id="34" name="TextBox 33">
              <a:extLst>
                <a:ext uri="{FF2B5EF4-FFF2-40B4-BE49-F238E27FC236}">
                  <a16:creationId xmlns:a16="http://schemas.microsoft.com/office/drawing/2014/main" id="{DA170BA9-A1E1-9B93-97CB-D1ED7C160B72}"/>
                </a:ext>
              </a:extLst>
            </p:cNvPr>
            <p:cNvSpPr txBox="1"/>
            <p:nvPr/>
          </p:nvSpPr>
          <p:spPr>
            <a:xfrm>
              <a:off x="8601536" y="6045972"/>
              <a:ext cx="1342675" cy="47439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chemeClr val="accent2"/>
                  </a:solidFill>
                  <a:effectLst/>
                  <a:uLnTx/>
                  <a:uFillTx/>
                  <a:latin typeface="Verdana"/>
                  <a:ea typeface="+mn-ea"/>
                  <a:cs typeface="+mn-cs"/>
                </a:rPr>
                <a:t>57%</a:t>
              </a:r>
              <a:r>
                <a:rPr kumimoji="0" lang="en-US" sz="800" b="0" i="0" u="none" strike="noStrike" kern="1200" cap="none" spc="0" normalizeH="0" baseline="0" noProof="0" dirty="0">
                  <a:ln>
                    <a:noFill/>
                  </a:ln>
                  <a:solidFill>
                    <a:schemeClr val="accent2"/>
                  </a:solidFill>
                  <a:effectLst/>
                  <a:uLnTx/>
                  <a:uFillTx/>
                  <a:latin typeface="Verdan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30302D"/>
                  </a:solidFill>
                  <a:effectLst/>
                  <a:uLnTx/>
                  <a:uFillTx/>
                  <a:latin typeface="Verdana"/>
                  <a:ea typeface="+mn-ea"/>
                  <a:cs typeface="+mn-cs"/>
                </a:rPr>
                <a:t>reduction 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30302D"/>
                  </a:solidFill>
                  <a:effectLst/>
                  <a:uLnTx/>
                  <a:uFillTx/>
                  <a:latin typeface="Verdana"/>
                  <a:ea typeface="+mn-ea"/>
                  <a:cs typeface="+mn-cs"/>
                </a:rPr>
                <a:t> AHT </a:t>
              </a:r>
            </a:p>
          </p:txBody>
        </p:sp>
        <p:sp>
          <p:nvSpPr>
            <p:cNvPr id="91" name="TextBox 90">
              <a:extLst>
                <a:ext uri="{FF2B5EF4-FFF2-40B4-BE49-F238E27FC236}">
                  <a16:creationId xmlns:a16="http://schemas.microsoft.com/office/drawing/2014/main" id="{76B967C6-55A6-0B57-C432-7EF910F9F35C}"/>
                </a:ext>
              </a:extLst>
            </p:cNvPr>
            <p:cNvSpPr txBox="1"/>
            <p:nvPr/>
          </p:nvSpPr>
          <p:spPr>
            <a:xfrm>
              <a:off x="6651352" y="6073309"/>
              <a:ext cx="1225651" cy="438582"/>
            </a:xfrm>
            <a:prstGeom prst="rect">
              <a:avLst/>
            </a:prstGeom>
            <a:noFill/>
          </p:spPr>
          <p:txBody>
            <a:bodyPr wrap="square" rtlCol="0">
              <a:spAutoFit/>
            </a:bodyPr>
            <a:lstStyle/>
            <a:p>
              <a:r>
                <a:rPr lang="en-US" sz="750" b="1" dirty="0">
                  <a:solidFill>
                    <a:schemeClr val="accent2"/>
                  </a:solidFill>
                  <a:latin typeface="Verdana"/>
                </a:rPr>
                <a:t>34% </a:t>
              </a:r>
              <a:r>
                <a:rPr lang="en-US" sz="750" b="1" dirty="0">
                  <a:solidFill>
                    <a:srgbClr val="30302D"/>
                  </a:solidFill>
                  <a:latin typeface="Verdana"/>
                </a:rPr>
                <a:t>increase</a:t>
              </a:r>
            </a:p>
            <a:p>
              <a:r>
                <a:rPr lang="en-US" sz="750" b="1" dirty="0">
                  <a:solidFill>
                    <a:srgbClr val="30302D"/>
                  </a:solidFill>
                  <a:latin typeface="Verdana"/>
                </a:rPr>
                <a:t>in partner </a:t>
              </a:r>
            </a:p>
            <a:p>
              <a:r>
                <a:rPr lang="en-US" sz="750" b="1" dirty="0">
                  <a:solidFill>
                    <a:srgbClr val="30302D"/>
                  </a:solidFill>
                  <a:latin typeface="Verdana"/>
                </a:rPr>
                <a:t>SAT</a:t>
              </a:r>
              <a:endParaRPr lang="en-KE" sz="750" b="1" dirty="0"/>
            </a:p>
          </p:txBody>
        </p:sp>
      </p:grpSp>
      <p:sp>
        <p:nvSpPr>
          <p:cNvPr id="102" name="TextBox 101">
            <a:extLst>
              <a:ext uri="{FF2B5EF4-FFF2-40B4-BE49-F238E27FC236}">
                <a16:creationId xmlns:a16="http://schemas.microsoft.com/office/drawing/2014/main" id="{481AE546-E059-FF5A-018E-057F5B7BBB9F}"/>
              </a:ext>
            </a:extLst>
          </p:cNvPr>
          <p:cNvSpPr txBox="1"/>
          <p:nvPr/>
        </p:nvSpPr>
        <p:spPr>
          <a:xfrm>
            <a:off x="18742" y="2670123"/>
            <a:ext cx="1640121" cy="338554"/>
          </a:xfrm>
          <a:prstGeom prst="rect">
            <a:avLst/>
          </a:prstGeom>
          <a:noFill/>
        </p:spPr>
        <p:txBody>
          <a:bodyPr wrap="square" rtlCol="0">
            <a:spAutoFit/>
          </a:bodyPr>
          <a:lstStyle/>
          <a:p>
            <a:r>
              <a:rPr lang="en-US" sz="1600" b="1" dirty="0">
                <a:solidFill>
                  <a:schemeClr val="accent4">
                    <a:lumMod val="75000"/>
                  </a:schemeClr>
                </a:solidFill>
              </a:rPr>
              <a:t>Our Solution.</a:t>
            </a:r>
          </a:p>
        </p:txBody>
      </p:sp>
      <p:grpSp>
        <p:nvGrpSpPr>
          <p:cNvPr id="3" name="Group 2">
            <a:extLst>
              <a:ext uri="{FF2B5EF4-FFF2-40B4-BE49-F238E27FC236}">
                <a16:creationId xmlns:a16="http://schemas.microsoft.com/office/drawing/2014/main" id="{3681EB08-54F1-0296-00A3-E95A6BE34803}"/>
              </a:ext>
            </a:extLst>
          </p:cNvPr>
          <p:cNvGrpSpPr/>
          <p:nvPr/>
        </p:nvGrpSpPr>
        <p:grpSpPr>
          <a:xfrm>
            <a:off x="7128017" y="1971189"/>
            <a:ext cx="2607537" cy="2935564"/>
            <a:chOff x="6963965" y="3806558"/>
            <a:chExt cx="2711829" cy="2726662"/>
          </a:xfrm>
        </p:grpSpPr>
        <p:grpSp>
          <p:nvGrpSpPr>
            <p:cNvPr id="4" name="Group 3">
              <a:extLst>
                <a:ext uri="{FF2B5EF4-FFF2-40B4-BE49-F238E27FC236}">
                  <a16:creationId xmlns:a16="http://schemas.microsoft.com/office/drawing/2014/main" id="{BC1E197F-47D9-F048-F3DC-800511870C33}"/>
                </a:ext>
              </a:extLst>
            </p:cNvPr>
            <p:cNvGrpSpPr/>
            <p:nvPr/>
          </p:nvGrpSpPr>
          <p:grpSpPr>
            <a:xfrm>
              <a:off x="6963965" y="3807303"/>
              <a:ext cx="839516" cy="855627"/>
              <a:chOff x="9363142" y="1105142"/>
              <a:chExt cx="839516" cy="855627"/>
            </a:xfrm>
          </p:grpSpPr>
          <p:sp>
            <p:nvSpPr>
              <p:cNvPr id="113" name="TextBox 112">
                <a:extLst>
                  <a:ext uri="{FF2B5EF4-FFF2-40B4-BE49-F238E27FC236}">
                    <a16:creationId xmlns:a16="http://schemas.microsoft.com/office/drawing/2014/main" id="{4B10CD6C-FA9D-A242-E95D-4D91774799A2}"/>
                  </a:ext>
                </a:extLst>
              </p:cNvPr>
              <p:cNvSpPr txBox="1"/>
              <p:nvPr/>
            </p:nvSpPr>
            <p:spPr>
              <a:xfrm>
                <a:off x="9363142" y="1105142"/>
                <a:ext cx="839516" cy="855627"/>
              </a:xfrm>
              <a:prstGeom prst="rect">
                <a:avLst/>
              </a:prstGeom>
              <a:solidFill>
                <a:schemeClr val="accent1">
                  <a:lumMod val="20000"/>
                  <a:lumOff val="80000"/>
                </a:schemeClr>
              </a:solidFill>
            </p:spPr>
            <p:txBody>
              <a:bodyPr wrap="square" rtlCol="0">
                <a:spAutoFit/>
              </a:bodyPr>
              <a:lstStyle/>
              <a:p>
                <a:endParaRPr lang="en-US" dirty="0"/>
              </a:p>
            </p:txBody>
          </p:sp>
          <p:grpSp>
            <p:nvGrpSpPr>
              <p:cNvPr id="114" name="Group 113">
                <a:extLst>
                  <a:ext uri="{FF2B5EF4-FFF2-40B4-BE49-F238E27FC236}">
                    <a16:creationId xmlns:a16="http://schemas.microsoft.com/office/drawing/2014/main" id="{E077248B-4DB0-EEEB-0E40-C16619ACB458}"/>
                  </a:ext>
                </a:extLst>
              </p:cNvPr>
              <p:cNvGrpSpPr/>
              <p:nvPr/>
            </p:nvGrpSpPr>
            <p:grpSpPr>
              <a:xfrm>
                <a:off x="9521396" y="1139995"/>
                <a:ext cx="632842" cy="737714"/>
                <a:chOff x="9733176" y="4329581"/>
                <a:chExt cx="815134" cy="856095"/>
              </a:xfrm>
            </p:grpSpPr>
            <p:pic>
              <p:nvPicPr>
                <p:cNvPr id="115" name="Graphic 114" descr="Open envelope outline">
                  <a:extLst>
                    <a:ext uri="{FF2B5EF4-FFF2-40B4-BE49-F238E27FC236}">
                      <a16:creationId xmlns:a16="http://schemas.microsoft.com/office/drawing/2014/main" id="{F2CB70CA-19FB-0CA2-DE38-9F397EC132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6386" y="4329581"/>
                  <a:ext cx="503627" cy="503627"/>
                </a:xfrm>
                <a:prstGeom prst="rect">
                  <a:avLst/>
                </a:prstGeom>
              </p:spPr>
            </p:pic>
            <p:sp>
              <p:nvSpPr>
                <p:cNvPr id="116" name="TextBox 115">
                  <a:extLst>
                    <a:ext uri="{FF2B5EF4-FFF2-40B4-BE49-F238E27FC236}">
                      <a16:creationId xmlns:a16="http://schemas.microsoft.com/office/drawing/2014/main" id="{ABF60A08-955E-D63D-DD2A-916CE48D21C6}"/>
                    </a:ext>
                  </a:extLst>
                </p:cNvPr>
                <p:cNvSpPr txBox="1"/>
                <p:nvPr/>
              </p:nvSpPr>
              <p:spPr>
                <a:xfrm>
                  <a:off x="9733176" y="4899944"/>
                  <a:ext cx="815134" cy="285732"/>
                </a:xfrm>
                <a:prstGeom prst="rect">
                  <a:avLst/>
                </a:prstGeom>
                <a:noFill/>
              </p:spPr>
              <p:txBody>
                <a:bodyPr wrap="square" rtlCol="0">
                  <a:spAutoFit/>
                </a:bodyPr>
                <a:lstStyle/>
                <a:p>
                  <a:r>
                    <a:rPr lang="en-US" sz="1000" dirty="0"/>
                    <a:t>Email</a:t>
                  </a:r>
                </a:p>
              </p:txBody>
            </p:sp>
          </p:grpSp>
        </p:grpSp>
        <p:grpSp>
          <p:nvGrpSpPr>
            <p:cNvPr id="16" name="Group 15">
              <a:extLst>
                <a:ext uri="{FF2B5EF4-FFF2-40B4-BE49-F238E27FC236}">
                  <a16:creationId xmlns:a16="http://schemas.microsoft.com/office/drawing/2014/main" id="{790F13C4-EA25-DCD6-5D1F-B54931EF9C7E}"/>
                </a:ext>
              </a:extLst>
            </p:cNvPr>
            <p:cNvGrpSpPr/>
            <p:nvPr/>
          </p:nvGrpSpPr>
          <p:grpSpPr>
            <a:xfrm>
              <a:off x="7887473" y="3806558"/>
              <a:ext cx="848425" cy="850651"/>
              <a:chOff x="7481823" y="3752036"/>
              <a:chExt cx="972150" cy="857345"/>
            </a:xfrm>
          </p:grpSpPr>
          <p:sp>
            <p:nvSpPr>
              <p:cNvPr id="109" name="TextBox 108">
                <a:extLst>
                  <a:ext uri="{FF2B5EF4-FFF2-40B4-BE49-F238E27FC236}">
                    <a16:creationId xmlns:a16="http://schemas.microsoft.com/office/drawing/2014/main" id="{E926F3D3-6A6A-0CD9-480A-519CD475A3C2}"/>
                  </a:ext>
                </a:extLst>
              </p:cNvPr>
              <p:cNvSpPr txBox="1"/>
              <p:nvPr/>
            </p:nvSpPr>
            <p:spPr>
              <a:xfrm>
                <a:off x="7481823" y="3752036"/>
                <a:ext cx="972150" cy="857345"/>
              </a:xfrm>
              <a:prstGeom prst="rect">
                <a:avLst/>
              </a:prstGeom>
              <a:solidFill>
                <a:srgbClr val="00B0F0"/>
              </a:solidFill>
            </p:spPr>
            <p:txBody>
              <a:bodyPr wrap="square" rtlCol="0">
                <a:spAutoFit/>
              </a:bodyPr>
              <a:lstStyle/>
              <a:p>
                <a:endParaRPr lang="en-US" dirty="0"/>
              </a:p>
            </p:txBody>
          </p:sp>
          <p:grpSp>
            <p:nvGrpSpPr>
              <p:cNvPr id="110" name="Group 109">
                <a:extLst>
                  <a:ext uri="{FF2B5EF4-FFF2-40B4-BE49-F238E27FC236}">
                    <a16:creationId xmlns:a16="http://schemas.microsoft.com/office/drawing/2014/main" id="{C4DE904B-E23A-73A3-3CEE-E312B007EBC5}"/>
                  </a:ext>
                </a:extLst>
              </p:cNvPr>
              <p:cNvGrpSpPr/>
              <p:nvPr/>
            </p:nvGrpSpPr>
            <p:grpSpPr>
              <a:xfrm>
                <a:off x="7717477" y="3876217"/>
                <a:ext cx="584774" cy="701196"/>
                <a:chOff x="9983655" y="1484221"/>
                <a:chExt cx="584774" cy="701196"/>
              </a:xfrm>
            </p:grpSpPr>
            <p:sp>
              <p:nvSpPr>
                <p:cNvPr id="111" name="TextBox 110">
                  <a:extLst>
                    <a:ext uri="{FF2B5EF4-FFF2-40B4-BE49-F238E27FC236}">
                      <a16:creationId xmlns:a16="http://schemas.microsoft.com/office/drawing/2014/main" id="{9A0EBD5F-FCA3-D96F-4345-C482FB793581}"/>
                    </a:ext>
                  </a:extLst>
                </p:cNvPr>
                <p:cNvSpPr txBox="1"/>
                <p:nvPr/>
              </p:nvSpPr>
              <p:spPr>
                <a:xfrm>
                  <a:off x="9983655" y="1937259"/>
                  <a:ext cx="584774" cy="248158"/>
                </a:xfrm>
                <a:prstGeom prst="rect">
                  <a:avLst/>
                </a:prstGeom>
                <a:noFill/>
              </p:spPr>
              <p:txBody>
                <a:bodyPr wrap="square" rtlCol="0">
                  <a:spAutoFit/>
                </a:bodyPr>
                <a:lstStyle/>
                <a:p>
                  <a:r>
                    <a:rPr lang="en-US" sz="1000" dirty="0"/>
                    <a:t>Chat</a:t>
                  </a:r>
                </a:p>
              </p:txBody>
            </p:sp>
            <p:pic>
              <p:nvPicPr>
                <p:cNvPr id="112" name="Graphic 111" descr="Chat bubble with solid fill">
                  <a:extLst>
                    <a:ext uri="{FF2B5EF4-FFF2-40B4-BE49-F238E27FC236}">
                      <a16:creationId xmlns:a16="http://schemas.microsoft.com/office/drawing/2014/main" id="{173890A2-86D7-457A-F7E3-EFCE796644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83655" y="1484221"/>
                  <a:ext cx="584774" cy="584774"/>
                </a:xfrm>
                <a:prstGeom prst="rect">
                  <a:avLst/>
                </a:prstGeom>
              </p:spPr>
            </p:pic>
          </p:grpSp>
        </p:grpSp>
        <p:grpSp>
          <p:nvGrpSpPr>
            <p:cNvPr id="17" name="Group 16">
              <a:extLst>
                <a:ext uri="{FF2B5EF4-FFF2-40B4-BE49-F238E27FC236}">
                  <a16:creationId xmlns:a16="http://schemas.microsoft.com/office/drawing/2014/main" id="{BAC3681B-5515-86B6-DBEE-4B1A6678FB2E}"/>
                </a:ext>
              </a:extLst>
            </p:cNvPr>
            <p:cNvGrpSpPr/>
            <p:nvPr/>
          </p:nvGrpSpPr>
          <p:grpSpPr>
            <a:xfrm>
              <a:off x="6972023" y="4718494"/>
              <a:ext cx="1116129" cy="857658"/>
              <a:chOff x="6218462" y="1502146"/>
              <a:chExt cx="1283931" cy="887093"/>
            </a:xfrm>
          </p:grpSpPr>
          <p:sp>
            <p:nvSpPr>
              <p:cNvPr id="105" name="TextBox 104">
                <a:extLst>
                  <a:ext uri="{FF2B5EF4-FFF2-40B4-BE49-F238E27FC236}">
                    <a16:creationId xmlns:a16="http://schemas.microsoft.com/office/drawing/2014/main" id="{8506D8C5-33EC-B1CB-6BD3-171DB7C83191}"/>
                  </a:ext>
                </a:extLst>
              </p:cNvPr>
              <p:cNvSpPr txBox="1"/>
              <p:nvPr/>
            </p:nvSpPr>
            <p:spPr>
              <a:xfrm>
                <a:off x="6218462" y="1508829"/>
                <a:ext cx="965731" cy="880410"/>
              </a:xfrm>
              <a:prstGeom prst="rect">
                <a:avLst/>
              </a:prstGeom>
              <a:solidFill>
                <a:srgbClr val="00B0F0"/>
              </a:solidFill>
            </p:spPr>
            <p:txBody>
              <a:bodyPr wrap="square" rtlCol="0">
                <a:spAutoFit/>
              </a:bodyPr>
              <a:lstStyle/>
              <a:p>
                <a:endParaRPr lang="en-US" dirty="0"/>
              </a:p>
            </p:txBody>
          </p:sp>
          <p:grpSp>
            <p:nvGrpSpPr>
              <p:cNvPr id="106" name="Group 105">
                <a:extLst>
                  <a:ext uri="{FF2B5EF4-FFF2-40B4-BE49-F238E27FC236}">
                    <a16:creationId xmlns:a16="http://schemas.microsoft.com/office/drawing/2014/main" id="{02587446-2104-AF3C-8312-29FC60E92B83}"/>
                  </a:ext>
                </a:extLst>
              </p:cNvPr>
              <p:cNvGrpSpPr/>
              <p:nvPr/>
            </p:nvGrpSpPr>
            <p:grpSpPr>
              <a:xfrm>
                <a:off x="6263147" y="1502146"/>
                <a:ext cx="1239246" cy="854025"/>
                <a:chOff x="9906809" y="2294612"/>
                <a:chExt cx="1239246" cy="854025"/>
              </a:xfrm>
            </p:grpSpPr>
            <p:pic>
              <p:nvPicPr>
                <p:cNvPr id="107" name="Graphic 106" descr="Business Growth with solid fill">
                  <a:extLst>
                    <a:ext uri="{FF2B5EF4-FFF2-40B4-BE49-F238E27FC236}">
                      <a16:creationId xmlns:a16="http://schemas.microsoft.com/office/drawing/2014/main" id="{FCA8FB03-31AF-C343-E33D-F592E9D078C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22726" y="2294612"/>
                  <a:ext cx="630583" cy="575710"/>
                </a:xfrm>
                <a:prstGeom prst="rect">
                  <a:avLst/>
                </a:prstGeom>
              </p:spPr>
            </p:pic>
            <p:sp>
              <p:nvSpPr>
                <p:cNvPr id="108" name="TextBox 107">
                  <a:extLst>
                    <a:ext uri="{FF2B5EF4-FFF2-40B4-BE49-F238E27FC236}">
                      <a16:creationId xmlns:a16="http://schemas.microsoft.com/office/drawing/2014/main" id="{16FC56E5-BC85-DC3F-133E-8FBEA0AD9D67}"/>
                    </a:ext>
                  </a:extLst>
                </p:cNvPr>
                <p:cNvSpPr txBox="1"/>
                <p:nvPr/>
              </p:nvSpPr>
              <p:spPr>
                <a:xfrm>
                  <a:off x="9906809" y="2734795"/>
                  <a:ext cx="1239246" cy="413842"/>
                </a:xfrm>
                <a:prstGeom prst="rect">
                  <a:avLst/>
                </a:prstGeom>
                <a:noFill/>
              </p:spPr>
              <p:txBody>
                <a:bodyPr wrap="square" rtlCol="0">
                  <a:spAutoFit/>
                </a:bodyPr>
                <a:lstStyle/>
                <a:p>
                  <a:r>
                    <a:rPr lang="en-US" sz="1000" dirty="0"/>
                    <a:t>Expat</a:t>
                  </a:r>
                </a:p>
                <a:p>
                  <a:r>
                    <a:rPr lang="en-US" sz="1000" dirty="0"/>
                    <a:t> Associates</a:t>
                  </a:r>
                </a:p>
              </p:txBody>
            </p:sp>
          </p:grpSp>
        </p:grpSp>
        <p:grpSp>
          <p:nvGrpSpPr>
            <p:cNvPr id="19" name="Group 18">
              <a:extLst>
                <a:ext uri="{FF2B5EF4-FFF2-40B4-BE49-F238E27FC236}">
                  <a16:creationId xmlns:a16="http://schemas.microsoft.com/office/drawing/2014/main" id="{D3F007B4-1F59-0FEE-1193-EADF9DC07C3D}"/>
                </a:ext>
              </a:extLst>
            </p:cNvPr>
            <p:cNvGrpSpPr/>
            <p:nvPr/>
          </p:nvGrpSpPr>
          <p:grpSpPr>
            <a:xfrm>
              <a:off x="7809454" y="4713353"/>
              <a:ext cx="952645" cy="833024"/>
              <a:chOff x="9920778" y="2225631"/>
              <a:chExt cx="903141" cy="833024"/>
            </a:xfrm>
          </p:grpSpPr>
          <p:sp>
            <p:nvSpPr>
              <p:cNvPr id="100" name="TextBox 99">
                <a:extLst>
                  <a:ext uri="{FF2B5EF4-FFF2-40B4-BE49-F238E27FC236}">
                    <a16:creationId xmlns:a16="http://schemas.microsoft.com/office/drawing/2014/main" id="{7FB288A5-CE71-3601-0F0A-5E3BC8970E97}"/>
                  </a:ext>
                </a:extLst>
              </p:cNvPr>
              <p:cNvSpPr txBox="1"/>
              <p:nvPr/>
            </p:nvSpPr>
            <p:spPr>
              <a:xfrm>
                <a:off x="9997649" y="2225631"/>
                <a:ext cx="810492" cy="833024"/>
              </a:xfrm>
              <a:prstGeom prst="rect">
                <a:avLst/>
              </a:prstGeom>
              <a:solidFill>
                <a:schemeClr val="accent1">
                  <a:lumMod val="40000"/>
                  <a:lumOff val="60000"/>
                </a:schemeClr>
              </a:solidFill>
            </p:spPr>
            <p:txBody>
              <a:bodyPr wrap="square" rtlCol="0">
                <a:spAutoFit/>
              </a:bodyPr>
              <a:lstStyle/>
              <a:p>
                <a:endParaRPr lang="en-US" dirty="0"/>
              </a:p>
            </p:txBody>
          </p:sp>
          <p:sp>
            <p:nvSpPr>
              <p:cNvPr id="103" name="TextBox 102">
                <a:extLst>
                  <a:ext uri="{FF2B5EF4-FFF2-40B4-BE49-F238E27FC236}">
                    <a16:creationId xmlns:a16="http://schemas.microsoft.com/office/drawing/2014/main" id="{06335935-DAF4-FCB2-6249-F14AF6D3A9F7}"/>
                  </a:ext>
                </a:extLst>
              </p:cNvPr>
              <p:cNvSpPr txBox="1"/>
              <p:nvPr/>
            </p:nvSpPr>
            <p:spPr>
              <a:xfrm>
                <a:off x="9920778" y="2726388"/>
                <a:ext cx="903141" cy="252936"/>
              </a:xfrm>
              <a:prstGeom prst="rect">
                <a:avLst/>
              </a:prstGeom>
              <a:noFill/>
            </p:spPr>
            <p:txBody>
              <a:bodyPr wrap="square" rtlCol="0">
                <a:spAutoFit/>
              </a:bodyPr>
              <a:lstStyle/>
              <a:p>
                <a:r>
                  <a:rPr lang="en-US" sz="1000" dirty="0"/>
                  <a:t>24/7Helpline</a:t>
                </a:r>
              </a:p>
            </p:txBody>
          </p:sp>
          <p:pic>
            <p:nvPicPr>
              <p:cNvPr id="104" name="Graphic 103" descr="Call center with solid fill">
                <a:extLst>
                  <a:ext uri="{FF2B5EF4-FFF2-40B4-BE49-F238E27FC236}">
                    <a16:creationId xmlns:a16="http://schemas.microsoft.com/office/drawing/2014/main" id="{4143422D-0D61-C274-FE57-E1A169E1979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18285" y="2275762"/>
                <a:ext cx="622292" cy="486610"/>
              </a:xfrm>
              <a:prstGeom prst="rect">
                <a:avLst/>
              </a:prstGeom>
            </p:spPr>
          </p:pic>
        </p:grpSp>
        <p:grpSp>
          <p:nvGrpSpPr>
            <p:cNvPr id="20" name="Group 19">
              <a:extLst>
                <a:ext uri="{FF2B5EF4-FFF2-40B4-BE49-F238E27FC236}">
                  <a16:creationId xmlns:a16="http://schemas.microsoft.com/office/drawing/2014/main" id="{D2AB69AB-10B1-D47B-D05D-AFC1C6757FB5}"/>
                </a:ext>
              </a:extLst>
            </p:cNvPr>
            <p:cNvGrpSpPr/>
            <p:nvPr/>
          </p:nvGrpSpPr>
          <p:grpSpPr>
            <a:xfrm>
              <a:off x="8803988" y="4734611"/>
              <a:ext cx="850378" cy="811205"/>
              <a:chOff x="8889006" y="3632706"/>
              <a:chExt cx="794622" cy="789250"/>
            </a:xfrm>
          </p:grpSpPr>
          <p:sp>
            <p:nvSpPr>
              <p:cNvPr id="97" name="TextBox 96">
                <a:extLst>
                  <a:ext uri="{FF2B5EF4-FFF2-40B4-BE49-F238E27FC236}">
                    <a16:creationId xmlns:a16="http://schemas.microsoft.com/office/drawing/2014/main" id="{7C345DDE-364A-7561-C3C3-2194045BD7FE}"/>
                  </a:ext>
                </a:extLst>
              </p:cNvPr>
              <p:cNvSpPr txBox="1"/>
              <p:nvPr/>
            </p:nvSpPr>
            <p:spPr>
              <a:xfrm>
                <a:off x="8919191" y="3632706"/>
                <a:ext cx="764436" cy="789250"/>
              </a:xfrm>
              <a:prstGeom prst="rect">
                <a:avLst/>
              </a:prstGeom>
              <a:solidFill>
                <a:srgbClr val="00B0F0"/>
              </a:solidFill>
            </p:spPr>
            <p:txBody>
              <a:bodyPr wrap="square" rtlCol="0">
                <a:spAutoFit/>
              </a:bodyPr>
              <a:lstStyle/>
              <a:p>
                <a:endParaRPr lang="en-US" dirty="0"/>
              </a:p>
            </p:txBody>
          </p:sp>
          <p:sp>
            <p:nvSpPr>
              <p:cNvPr id="98" name="TextBox 97">
                <a:extLst>
                  <a:ext uri="{FF2B5EF4-FFF2-40B4-BE49-F238E27FC236}">
                    <a16:creationId xmlns:a16="http://schemas.microsoft.com/office/drawing/2014/main" id="{CAF03B8D-9F75-44B8-7276-1A10ADB59B89}"/>
                  </a:ext>
                </a:extLst>
              </p:cNvPr>
              <p:cNvSpPr txBox="1"/>
              <p:nvPr/>
            </p:nvSpPr>
            <p:spPr>
              <a:xfrm>
                <a:off x="8889952" y="4134237"/>
                <a:ext cx="793676" cy="229463"/>
              </a:xfrm>
              <a:prstGeom prst="rect">
                <a:avLst/>
              </a:prstGeom>
              <a:noFill/>
            </p:spPr>
            <p:txBody>
              <a:bodyPr wrap="square" rtlCol="0">
                <a:spAutoFit/>
              </a:bodyPr>
              <a:lstStyle/>
              <a:p>
                <a:r>
                  <a:rPr lang="en-US" sz="1050" dirty="0"/>
                  <a:t>QA Teams</a:t>
                </a:r>
              </a:p>
            </p:txBody>
          </p:sp>
          <p:pic>
            <p:nvPicPr>
              <p:cNvPr id="99" name="Picture 98">
                <a:extLst>
                  <a:ext uri="{FF2B5EF4-FFF2-40B4-BE49-F238E27FC236}">
                    <a16:creationId xmlns:a16="http://schemas.microsoft.com/office/drawing/2014/main" id="{1FEB0E4D-FA09-4A9A-0F23-C591B627E49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889006" y="3764064"/>
                <a:ext cx="725519" cy="535994"/>
              </a:xfrm>
              <a:prstGeom prst="rect">
                <a:avLst/>
              </a:prstGeom>
            </p:spPr>
          </p:pic>
        </p:grpSp>
        <p:grpSp>
          <p:nvGrpSpPr>
            <p:cNvPr id="23" name="Group 22">
              <a:extLst>
                <a:ext uri="{FF2B5EF4-FFF2-40B4-BE49-F238E27FC236}">
                  <a16:creationId xmlns:a16="http://schemas.microsoft.com/office/drawing/2014/main" id="{814A2D39-4416-AF2B-A24B-D96B908649E7}"/>
                </a:ext>
              </a:extLst>
            </p:cNvPr>
            <p:cNvGrpSpPr/>
            <p:nvPr/>
          </p:nvGrpSpPr>
          <p:grpSpPr>
            <a:xfrm>
              <a:off x="6979655" y="5618419"/>
              <a:ext cx="1157580" cy="914801"/>
              <a:chOff x="9523633" y="2985717"/>
              <a:chExt cx="1071064" cy="986243"/>
            </a:xfrm>
          </p:grpSpPr>
          <p:sp>
            <p:nvSpPr>
              <p:cNvPr id="95" name="TextBox 94">
                <a:extLst>
                  <a:ext uri="{FF2B5EF4-FFF2-40B4-BE49-F238E27FC236}">
                    <a16:creationId xmlns:a16="http://schemas.microsoft.com/office/drawing/2014/main" id="{29E140D9-7DB4-D7CF-1DE5-65DC2B5F87C6}"/>
                  </a:ext>
                </a:extLst>
              </p:cNvPr>
              <p:cNvSpPr txBox="1"/>
              <p:nvPr/>
            </p:nvSpPr>
            <p:spPr>
              <a:xfrm>
                <a:off x="9523633" y="2985717"/>
                <a:ext cx="759724" cy="979415"/>
              </a:xfrm>
              <a:prstGeom prst="rect">
                <a:avLst/>
              </a:prstGeom>
              <a:solidFill>
                <a:schemeClr val="accent1">
                  <a:lumMod val="20000"/>
                  <a:lumOff val="80000"/>
                </a:schemeClr>
              </a:solidFill>
            </p:spPr>
            <p:txBody>
              <a:bodyPr wrap="square" rtlCol="0">
                <a:spAutoFit/>
              </a:bodyPr>
              <a:lstStyle/>
              <a:p>
                <a:endParaRPr lang="en-US" dirty="0"/>
              </a:p>
            </p:txBody>
          </p:sp>
          <p:sp>
            <p:nvSpPr>
              <p:cNvPr id="96" name="TextBox 95">
                <a:extLst>
                  <a:ext uri="{FF2B5EF4-FFF2-40B4-BE49-F238E27FC236}">
                    <a16:creationId xmlns:a16="http://schemas.microsoft.com/office/drawing/2014/main" id="{C6D8A5AB-37D6-46E7-F9DC-916FCD62E268}"/>
                  </a:ext>
                </a:extLst>
              </p:cNvPr>
              <p:cNvSpPr txBox="1"/>
              <p:nvPr/>
            </p:nvSpPr>
            <p:spPr>
              <a:xfrm>
                <a:off x="9619842" y="3540603"/>
                <a:ext cx="974855" cy="431357"/>
              </a:xfrm>
              <a:prstGeom prst="rect">
                <a:avLst/>
              </a:prstGeom>
              <a:noFill/>
            </p:spPr>
            <p:txBody>
              <a:bodyPr wrap="square" rtlCol="0">
                <a:spAutoFit/>
              </a:bodyPr>
              <a:lstStyle/>
              <a:p>
                <a:r>
                  <a:rPr lang="en-US" sz="1000" dirty="0"/>
                  <a:t>SOS </a:t>
                </a:r>
              </a:p>
              <a:p>
                <a:r>
                  <a:rPr lang="en-US" sz="1000" dirty="0"/>
                  <a:t>Follow-up</a:t>
                </a:r>
              </a:p>
            </p:txBody>
          </p:sp>
        </p:grpSp>
        <p:grpSp>
          <p:nvGrpSpPr>
            <p:cNvPr id="28" name="Group 27">
              <a:extLst>
                <a:ext uri="{FF2B5EF4-FFF2-40B4-BE49-F238E27FC236}">
                  <a16:creationId xmlns:a16="http://schemas.microsoft.com/office/drawing/2014/main" id="{057C50C1-9FC6-9CA2-0BC3-7F576C810CD9}"/>
                </a:ext>
              </a:extLst>
            </p:cNvPr>
            <p:cNvGrpSpPr/>
            <p:nvPr/>
          </p:nvGrpSpPr>
          <p:grpSpPr>
            <a:xfrm>
              <a:off x="8761365" y="5624465"/>
              <a:ext cx="908747" cy="896749"/>
              <a:chOff x="11929399" y="3147233"/>
              <a:chExt cx="1030351" cy="966002"/>
            </a:xfrm>
          </p:grpSpPr>
          <p:sp>
            <p:nvSpPr>
              <p:cNvPr id="47" name="TextBox 46">
                <a:extLst>
                  <a:ext uri="{FF2B5EF4-FFF2-40B4-BE49-F238E27FC236}">
                    <a16:creationId xmlns:a16="http://schemas.microsoft.com/office/drawing/2014/main" id="{1D9FE654-01BD-3B66-53A6-3644F1F5ECA5}"/>
                  </a:ext>
                </a:extLst>
              </p:cNvPr>
              <p:cNvSpPr txBox="1"/>
              <p:nvPr/>
            </p:nvSpPr>
            <p:spPr>
              <a:xfrm>
                <a:off x="11971626" y="3147233"/>
                <a:ext cx="988124" cy="954947"/>
              </a:xfrm>
              <a:prstGeom prst="rect">
                <a:avLst/>
              </a:prstGeom>
              <a:solidFill>
                <a:schemeClr val="accent1">
                  <a:lumMod val="20000"/>
                  <a:lumOff val="80000"/>
                </a:schemeClr>
              </a:solidFill>
            </p:spPr>
            <p:txBody>
              <a:bodyPr wrap="square" rtlCol="0">
                <a:spAutoFit/>
              </a:bodyPr>
              <a:lstStyle/>
              <a:p>
                <a:endParaRPr lang="en-US" dirty="0"/>
              </a:p>
            </p:txBody>
          </p:sp>
          <p:grpSp>
            <p:nvGrpSpPr>
              <p:cNvPr id="89" name="Group 88">
                <a:extLst>
                  <a:ext uri="{FF2B5EF4-FFF2-40B4-BE49-F238E27FC236}">
                    <a16:creationId xmlns:a16="http://schemas.microsoft.com/office/drawing/2014/main" id="{501DFBAE-F035-9452-01C6-E2FCA04F80DB}"/>
                  </a:ext>
                </a:extLst>
              </p:cNvPr>
              <p:cNvGrpSpPr/>
              <p:nvPr/>
            </p:nvGrpSpPr>
            <p:grpSpPr>
              <a:xfrm>
                <a:off x="11929399" y="3222983"/>
                <a:ext cx="988124" cy="890252"/>
                <a:chOff x="9212441" y="5173361"/>
                <a:chExt cx="1230819" cy="825203"/>
              </a:xfrm>
            </p:grpSpPr>
            <p:pic>
              <p:nvPicPr>
                <p:cNvPr id="90" name="Picture 89">
                  <a:extLst>
                    <a:ext uri="{FF2B5EF4-FFF2-40B4-BE49-F238E27FC236}">
                      <a16:creationId xmlns:a16="http://schemas.microsoft.com/office/drawing/2014/main" id="{187BF5F6-5424-E997-2953-EABB2E8399C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551608" y="5173361"/>
                  <a:ext cx="350762" cy="350761"/>
                </a:xfrm>
                <a:prstGeom prst="rect">
                  <a:avLst/>
                </a:prstGeom>
              </p:spPr>
            </p:pic>
            <p:sp>
              <p:nvSpPr>
                <p:cNvPr id="93" name="TextBox 92">
                  <a:extLst>
                    <a:ext uri="{FF2B5EF4-FFF2-40B4-BE49-F238E27FC236}">
                      <a16:creationId xmlns:a16="http://schemas.microsoft.com/office/drawing/2014/main" id="{91F7D506-CAA8-9701-ED0B-FCE8F6C84FA8}"/>
                    </a:ext>
                  </a:extLst>
                </p:cNvPr>
                <p:cNvSpPr txBox="1"/>
                <p:nvPr/>
              </p:nvSpPr>
              <p:spPr>
                <a:xfrm>
                  <a:off x="9212441" y="5484754"/>
                  <a:ext cx="1230819" cy="513810"/>
                </a:xfrm>
                <a:prstGeom prst="rect">
                  <a:avLst/>
                </a:prstGeom>
                <a:noFill/>
              </p:spPr>
              <p:txBody>
                <a:bodyPr wrap="square" rtlCol="0">
                  <a:spAutoFit/>
                </a:bodyPr>
                <a:lstStyle/>
                <a:p>
                  <a:r>
                    <a:rPr lang="en-US" sz="1000" dirty="0"/>
                    <a:t>Business</a:t>
                  </a:r>
                </a:p>
                <a:p>
                  <a:r>
                    <a:rPr lang="en-US" sz="1000" dirty="0"/>
                    <a:t>development</a:t>
                  </a:r>
                </a:p>
              </p:txBody>
            </p:sp>
          </p:grpSp>
        </p:grpSp>
        <p:grpSp>
          <p:nvGrpSpPr>
            <p:cNvPr id="29" name="Group 28">
              <a:extLst>
                <a:ext uri="{FF2B5EF4-FFF2-40B4-BE49-F238E27FC236}">
                  <a16:creationId xmlns:a16="http://schemas.microsoft.com/office/drawing/2014/main" id="{F9F585A9-1FF9-5F25-0874-58848557BFB1}"/>
                </a:ext>
              </a:extLst>
            </p:cNvPr>
            <p:cNvGrpSpPr/>
            <p:nvPr/>
          </p:nvGrpSpPr>
          <p:grpSpPr>
            <a:xfrm>
              <a:off x="7840974" y="5619841"/>
              <a:ext cx="921123" cy="894233"/>
              <a:chOff x="7118397" y="5044199"/>
              <a:chExt cx="921123" cy="894233"/>
            </a:xfrm>
          </p:grpSpPr>
          <p:sp>
            <p:nvSpPr>
              <p:cNvPr id="44" name="TextBox 43">
                <a:extLst>
                  <a:ext uri="{FF2B5EF4-FFF2-40B4-BE49-F238E27FC236}">
                    <a16:creationId xmlns:a16="http://schemas.microsoft.com/office/drawing/2014/main" id="{86A39526-B6D1-1F5C-859F-5E47DCACD548}"/>
                  </a:ext>
                </a:extLst>
              </p:cNvPr>
              <p:cNvSpPr txBox="1"/>
              <p:nvPr/>
            </p:nvSpPr>
            <p:spPr>
              <a:xfrm>
                <a:off x="7166211" y="5044199"/>
                <a:ext cx="854916" cy="894233"/>
              </a:xfrm>
              <a:prstGeom prst="rect">
                <a:avLst/>
              </a:prstGeom>
              <a:solidFill>
                <a:srgbClr val="00B0F0"/>
              </a:solidFill>
            </p:spPr>
            <p:txBody>
              <a:bodyPr wrap="square" rtlCol="0">
                <a:spAutoFit/>
              </a:bodyPr>
              <a:lstStyle/>
              <a:p>
                <a:endParaRPr lang="en-US" dirty="0"/>
              </a:p>
            </p:txBody>
          </p:sp>
          <p:sp>
            <p:nvSpPr>
              <p:cNvPr id="45" name="TextBox 44">
                <a:extLst>
                  <a:ext uri="{FF2B5EF4-FFF2-40B4-BE49-F238E27FC236}">
                    <a16:creationId xmlns:a16="http://schemas.microsoft.com/office/drawing/2014/main" id="{F8F76636-424C-E78E-8A78-21CC6BB888F0}"/>
                  </a:ext>
                </a:extLst>
              </p:cNvPr>
              <p:cNvSpPr txBox="1"/>
              <p:nvPr/>
            </p:nvSpPr>
            <p:spPr>
              <a:xfrm>
                <a:off x="7118397" y="5530137"/>
                <a:ext cx="921123" cy="338554"/>
              </a:xfrm>
              <a:prstGeom prst="rect">
                <a:avLst/>
              </a:prstGeom>
              <a:noFill/>
            </p:spPr>
            <p:txBody>
              <a:bodyPr wrap="square">
                <a:spAutoFit/>
              </a:bodyPr>
              <a:lstStyle/>
              <a:p>
                <a:r>
                  <a:rPr kumimoji="0" lang="en-US" sz="800" b="0" i="0" u="none" strike="noStrike" kern="1200" cap="none" spc="0" normalizeH="0" baseline="0" noProof="0" dirty="0">
                    <a:ln>
                      <a:noFill/>
                    </a:ln>
                    <a:solidFill>
                      <a:srgbClr val="30302D"/>
                    </a:solidFill>
                    <a:effectLst/>
                    <a:uLnTx/>
                    <a:uFillTx/>
                    <a:latin typeface="Verdana"/>
                    <a:ea typeface="+mn-ea"/>
                    <a:cs typeface="+mn-cs"/>
                  </a:rPr>
                  <a:t>Performance</a:t>
                </a:r>
              </a:p>
              <a:p>
                <a:r>
                  <a:rPr lang="en-US" sz="800" dirty="0">
                    <a:solidFill>
                      <a:srgbClr val="30302D"/>
                    </a:solidFill>
                    <a:latin typeface="Verdana"/>
                  </a:rPr>
                  <a:t>enhancement</a:t>
                </a:r>
                <a:endParaRPr lang="en-US" sz="800" dirty="0"/>
              </a:p>
            </p:txBody>
          </p:sp>
          <p:pic>
            <p:nvPicPr>
              <p:cNvPr id="46" name="Graphic 45" descr="Snowflake">
                <a:extLst>
                  <a:ext uri="{FF2B5EF4-FFF2-40B4-BE49-F238E27FC236}">
                    <a16:creationId xmlns:a16="http://schemas.microsoft.com/office/drawing/2014/main" id="{BD21A80B-D487-0D1A-FA31-D5165FB0251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293167" y="5113472"/>
                <a:ext cx="474080" cy="474080"/>
              </a:xfrm>
              <a:prstGeom prst="rect">
                <a:avLst/>
              </a:prstGeom>
            </p:spPr>
          </p:pic>
        </p:grpSp>
        <p:grpSp>
          <p:nvGrpSpPr>
            <p:cNvPr id="30" name="Group 29">
              <a:extLst>
                <a:ext uri="{FF2B5EF4-FFF2-40B4-BE49-F238E27FC236}">
                  <a16:creationId xmlns:a16="http://schemas.microsoft.com/office/drawing/2014/main" id="{C78F09A7-75BC-F11A-343C-3473431928F5}"/>
                </a:ext>
              </a:extLst>
            </p:cNvPr>
            <p:cNvGrpSpPr/>
            <p:nvPr/>
          </p:nvGrpSpPr>
          <p:grpSpPr>
            <a:xfrm>
              <a:off x="8799823" y="3812278"/>
              <a:ext cx="875971" cy="852343"/>
              <a:chOff x="11098609" y="1018770"/>
              <a:chExt cx="875971" cy="852343"/>
            </a:xfrm>
          </p:grpSpPr>
          <p:sp>
            <p:nvSpPr>
              <p:cNvPr id="35" name="TextBox 34">
                <a:extLst>
                  <a:ext uri="{FF2B5EF4-FFF2-40B4-BE49-F238E27FC236}">
                    <a16:creationId xmlns:a16="http://schemas.microsoft.com/office/drawing/2014/main" id="{5ADCDD11-E105-E6D8-2D2E-7A342FB6169D}"/>
                  </a:ext>
                </a:extLst>
              </p:cNvPr>
              <p:cNvSpPr txBox="1"/>
              <p:nvPr/>
            </p:nvSpPr>
            <p:spPr>
              <a:xfrm>
                <a:off x="11098609" y="1018770"/>
                <a:ext cx="854918" cy="850651"/>
              </a:xfrm>
              <a:prstGeom prst="rect">
                <a:avLst/>
              </a:prstGeom>
              <a:solidFill>
                <a:schemeClr val="accent1">
                  <a:lumMod val="20000"/>
                  <a:lumOff val="80000"/>
                </a:schemeClr>
              </a:solidFill>
            </p:spPr>
            <p:txBody>
              <a:bodyPr wrap="square" rtlCol="0">
                <a:spAutoFit/>
              </a:bodyPr>
              <a:lstStyle/>
              <a:p>
                <a:endParaRPr lang="en-US" dirty="0"/>
              </a:p>
            </p:txBody>
          </p:sp>
          <p:sp>
            <p:nvSpPr>
              <p:cNvPr id="36" name="TextBox 35">
                <a:extLst>
                  <a:ext uri="{FF2B5EF4-FFF2-40B4-BE49-F238E27FC236}">
                    <a16:creationId xmlns:a16="http://schemas.microsoft.com/office/drawing/2014/main" id="{5AA7467E-EB1D-4239-9789-44FBFEA287B6}"/>
                  </a:ext>
                </a:extLst>
              </p:cNvPr>
              <p:cNvSpPr txBox="1"/>
              <p:nvPr/>
            </p:nvSpPr>
            <p:spPr>
              <a:xfrm>
                <a:off x="11249984" y="1471003"/>
                <a:ext cx="724596" cy="400110"/>
              </a:xfrm>
              <a:prstGeom prst="rect">
                <a:avLst/>
              </a:prstGeom>
              <a:noFill/>
            </p:spPr>
            <p:txBody>
              <a:bodyPr wrap="square" rtlCol="0">
                <a:spAutoFit/>
              </a:bodyPr>
              <a:lstStyle/>
              <a:p>
                <a:r>
                  <a:rPr lang="en-US" sz="1000" dirty="0"/>
                  <a:t>Partner outreach</a:t>
                </a:r>
              </a:p>
            </p:txBody>
          </p:sp>
          <p:pic>
            <p:nvPicPr>
              <p:cNvPr id="43" name="Picture 42">
                <a:extLst>
                  <a:ext uri="{FF2B5EF4-FFF2-40B4-BE49-F238E27FC236}">
                    <a16:creationId xmlns:a16="http://schemas.microsoft.com/office/drawing/2014/main" id="{43654719-3393-1B2A-B944-573941EFA9E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1340438" y="1159634"/>
                <a:ext cx="258641" cy="285168"/>
              </a:xfrm>
              <a:prstGeom prst="rect">
                <a:avLst/>
              </a:prstGeom>
            </p:spPr>
          </p:pic>
        </p:grpSp>
        <p:pic>
          <p:nvPicPr>
            <p:cNvPr id="32" name="Picture 31">
              <a:extLst>
                <a:ext uri="{FF2B5EF4-FFF2-40B4-BE49-F238E27FC236}">
                  <a16:creationId xmlns:a16="http://schemas.microsoft.com/office/drawing/2014/main" id="{D3059E90-3EC2-5A7B-2318-7871D5B2D2ED}"/>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50782" y="5675387"/>
              <a:ext cx="495890" cy="450809"/>
            </a:xfrm>
            <a:prstGeom prst="rect">
              <a:avLst/>
            </a:prstGeom>
          </p:spPr>
        </p:pic>
      </p:grpSp>
      <p:grpSp>
        <p:nvGrpSpPr>
          <p:cNvPr id="201" name="Group 200">
            <a:extLst>
              <a:ext uri="{FF2B5EF4-FFF2-40B4-BE49-F238E27FC236}">
                <a16:creationId xmlns:a16="http://schemas.microsoft.com/office/drawing/2014/main" id="{326ACC4D-4372-694B-6B0B-2A0C44C76260}"/>
              </a:ext>
            </a:extLst>
          </p:cNvPr>
          <p:cNvGrpSpPr/>
          <p:nvPr/>
        </p:nvGrpSpPr>
        <p:grpSpPr>
          <a:xfrm>
            <a:off x="132379" y="2730293"/>
            <a:ext cx="6686469" cy="3661583"/>
            <a:chOff x="312729" y="2737401"/>
            <a:chExt cx="6686469" cy="3661583"/>
          </a:xfrm>
        </p:grpSpPr>
        <p:grpSp>
          <p:nvGrpSpPr>
            <p:cNvPr id="101" name="Group 100">
              <a:extLst>
                <a:ext uri="{FF2B5EF4-FFF2-40B4-BE49-F238E27FC236}">
                  <a16:creationId xmlns:a16="http://schemas.microsoft.com/office/drawing/2014/main" id="{23D07B33-8116-BA63-F413-BA5F2D9F9E62}"/>
                </a:ext>
              </a:extLst>
            </p:cNvPr>
            <p:cNvGrpSpPr/>
            <p:nvPr/>
          </p:nvGrpSpPr>
          <p:grpSpPr>
            <a:xfrm>
              <a:off x="312729" y="2737401"/>
              <a:ext cx="3550768" cy="3607443"/>
              <a:chOff x="176640" y="2596446"/>
              <a:chExt cx="3686826" cy="3607443"/>
            </a:xfrm>
          </p:grpSpPr>
          <p:sp>
            <p:nvSpPr>
              <p:cNvPr id="37" name="Isosceles Triangle 36">
                <a:extLst>
                  <a:ext uri="{FF2B5EF4-FFF2-40B4-BE49-F238E27FC236}">
                    <a16:creationId xmlns:a16="http://schemas.microsoft.com/office/drawing/2014/main" id="{35F1393E-479C-02A7-FCC8-3D5A82A720D8}"/>
                  </a:ext>
                </a:extLst>
              </p:cNvPr>
              <p:cNvSpPr/>
              <p:nvPr/>
            </p:nvSpPr>
            <p:spPr>
              <a:xfrm>
                <a:off x="256023" y="2596446"/>
                <a:ext cx="3607443" cy="3607443"/>
              </a:xfrm>
              <a:prstGeom prst="triangl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40" name="Freeform: Shape 39">
                <a:extLst>
                  <a:ext uri="{FF2B5EF4-FFF2-40B4-BE49-F238E27FC236}">
                    <a16:creationId xmlns:a16="http://schemas.microsoft.com/office/drawing/2014/main" id="{2B0CC488-7255-12C5-DFD3-4EB07F84F56B}"/>
                  </a:ext>
                </a:extLst>
              </p:cNvPr>
              <p:cNvSpPr/>
              <p:nvPr/>
            </p:nvSpPr>
            <p:spPr>
              <a:xfrm>
                <a:off x="176640" y="4266750"/>
                <a:ext cx="1854498" cy="488782"/>
              </a:xfrm>
              <a:custGeom>
                <a:avLst/>
                <a:gdLst>
                  <a:gd name="csX0" fmla="*/ 0 w 2344837"/>
                  <a:gd name="csY0" fmla="*/ 85491 h 512933"/>
                  <a:gd name="csX1" fmla="*/ 85491 w 2344837"/>
                  <a:gd name="csY1" fmla="*/ 0 h 512933"/>
                  <a:gd name="csX2" fmla="*/ 2259346 w 2344837"/>
                  <a:gd name="csY2" fmla="*/ 0 h 512933"/>
                  <a:gd name="csX3" fmla="*/ 2344837 w 2344837"/>
                  <a:gd name="csY3" fmla="*/ 85491 h 512933"/>
                  <a:gd name="csX4" fmla="*/ 2344837 w 2344837"/>
                  <a:gd name="csY4" fmla="*/ 427442 h 512933"/>
                  <a:gd name="csX5" fmla="*/ 2259346 w 2344837"/>
                  <a:gd name="csY5" fmla="*/ 512933 h 512933"/>
                  <a:gd name="csX6" fmla="*/ 85491 w 2344837"/>
                  <a:gd name="csY6" fmla="*/ 512933 h 512933"/>
                  <a:gd name="csX7" fmla="*/ 0 w 2344837"/>
                  <a:gd name="csY7" fmla="*/ 427442 h 512933"/>
                  <a:gd name="csX8" fmla="*/ 0 w 2344837"/>
                  <a:gd name="csY8" fmla="*/ 85491 h 5129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44837" h="512933">
                    <a:moveTo>
                      <a:pt x="0" y="85491"/>
                    </a:moveTo>
                    <a:cubicBezTo>
                      <a:pt x="0" y="38276"/>
                      <a:pt x="38276" y="0"/>
                      <a:pt x="85491" y="0"/>
                    </a:cubicBezTo>
                    <a:lnTo>
                      <a:pt x="2259346" y="0"/>
                    </a:lnTo>
                    <a:cubicBezTo>
                      <a:pt x="2306561" y="0"/>
                      <a:pt x="2344837" y="38276"/>
                      <a:pt x="2344837" y="85491"/>
                    </a:cubicBezTo>
                    <a:lnTo>
                      <a:pt x="2344837" y="427442"/>
                    </a:lnTo>
                    <a:cubicBezTo>
                      <a:pt x="2344837" y="474657"/>
                      <a:pt x="2306561" y="512933"/>
                      <a:pt x="2259346" y="512933"/>
                    </a:cubicBezTo>
                    <a:lnTo>
                      <a:pt x="85491" y="512933"/>
                    </a:lnTo>
                    <a:cubicBezTo>
                      <a:pt x="38276" y="512933"/>
                      <a:pt x="0" y="474657"/>
                      <a:pt x="0" y="427442"/>
                    </a:cubicBezTo>
                    <a:lnTo>
                      <a:pt x="0" y="85491"/>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49" tIns="105049" rIns="105049" bIns="105049" numCol="1" spcCol="1270" anchor="ctr" anchorCtr="0">
                <a:noAutofit/>
              </a:bodyPr>
              <a:lstStyle/>
              <a:p>
                <a:pPr marL="0" lvl="0" indent="0" algn="ctr" defTabSz="933450">
                  <a:lnSpc>
                    <a:spcPct val="90000"/>
                  </a:lnSpc>
                  <a:spcBef>
                    <a:spcPct val="0"/>
                  </a:spcBef>
                  <a:spcAft>
                    <a:spcPct val="35000"/>
                  </a:spcAft>
                  <a:buNone/>
                </a:pPr>
                <a:endParaRPr lang="en-US" sz="2100" kern="1200" dirty="0"/>
              </a:p>
            </p:txBody>
          </p:sp>
          <p:sp>
            <p:nvSpPr>
              <p:cNvPr id="38" name="Freeform: Shape 37">
                <a:extLst>
                  <a:ext uri="{FF2B5EF4-FFF2-40B4-BE49-F238E27FC236}">
                    <a16:creationId xmlns:a16="http://schemas.microsoft.com/office/drawing/2014/main" id="{056CC1D1-8897-7305-565A-BBA67464F3C3}"/>
                  </a:ext>
                </a:extLst>
              </p:cNvPr>
              <p:cNvSpPr/>
              <p:nvPr/>
            </p:nvSpPr>
            <p:spPr>
              <a:xfrm>
                <a:off x="176640" y="2909322"/>
                <a:ext cx="1854498" cy="512933"/>
              </a:xfrm>
              <a:custGeom>
                <a:avLst/>
                <a:gdLst>
                  <a:gd name="csX0" fmla="*/ 0 w 2344837"/>
                  <a:gd name="csY0" fmla="*/ 85491 h 512933"/>
                  <a:gd name="csX1" fmla="*/ 85491 w 2344837"/>
                  <a:gd name="csY1" fmla="*/ 0 h 512933"/>
                  <a:gd name="csX2" fmla="*/ 2259346 w 2344837"/>
                  <a:gd name="csY2" fmla="*/ 0 h 512933"/>
                  <a:gd name="csX3" fmla="*/ 2344837 w 2344837"/>
                  <a:gd name="csY3" fmla="*/ 85491 h 512933"/>
                  <a:gd name="csX4" fmla="*/ 2344837 w 2344837"/>
                  <a:gd name="csY4" fmla="*/ 427442 h 512933"/>
                  <a:gd name="csX5" fmla="*/ 2259346 w 2344837"/>
                  <a:gd name="csY5" fmla="*/ 512933 h 512933"/>
                  <a:gd name="csX6" fmla="*/ 85491 w 2344837"/>
                  <a:gd name="csY6" fmla="*/ 512933 h 512933"/>
                  <a:gd name="csX7" fmla="*/ 0 w 2344837"/>
                  <a:gd name="csY7" fmla="*/ 427442 h 512933"/>
                  <a:gd name="csX8" fmla="*/ 0 w 2344837"/>
                  <a:gd name="csY8" fmla="*/ 85491 h 5129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44837" h="512933">
                    <a:moveTo>
                      <a:pt x="0" y="85491"/>
                    </a:moveTo>
                    <a:cubicBezTo>
                      <a:pt x="0" y="38276"/>
                      <a:pt x="38276" y="0"/>
                      <a:pt x="85491" y="0"/>
                    </a:cubicBezTo>
                    <a:lnTo>
                      <a:pt x="2259346" y="0"/>
                    </a:lnTo>
                    <a:cubicBezTo>
                      <a:pt x="2306561" y="0"/>
                      <a:pt x="2344837" y="38276"/>
                      <a:pt x="2344837" y="85491"/>
                    </a:cubicBezTo>
                    <a:lnTo>
                      <a:pt x="2344837" y="427442"/>
                    </a:lnTo>
                    <a:cubicBezTo>
                      <a:pt x="2344837" y="474657"/>
                      <a:pt x="2306561" y="512933"/>
                      <a:pt x="2259346" y="512933"/>
                    </a:cubicBezTo>
                    <a:lnTo>
                      <a:pt x="85491" y="512933"/>
                    </a:lnTo>
                    <a:cubicBezTo>
                      <a:pt x="38276" y="512933"/>
                      <a:pt x="0" y="474657"/>
                      <a:pt x="0" y="427442"/>
                    </a:cubicBezTo>
                    <a:lnTo>
                      <a:pt x="0" y="85491"/>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49" tIns="105049" rIns="105049" bIns="105049" numCol="1" spcCol="1270" anchor="ctr" anchorCtr="0">
                <a:noAutofit/>
              </a:bodyPr>
              <a:lstStyle/>
              <a:p>
                <a:pPr marL="0" lvl="0" indent="0" algn="ctr" defTabSz="933450">
                  <a:lnSpc>
                    <a:spcPct val="90000"/>
                  </a:lnSpc>
                  <a:spcBef>
                    <a:spcPct val="0"/>
                  </a:spcBef>
                  <a:spcAft>
                    <a:spcPct val="35000"/>
                  </a:spcAft>
                  <a:buNone/>
                </a:pPr>
                <a:endParaRPr lang="en-US" sz="2100" kern="1200" dirty="0"/>
              </a:p>
            </p:txBody>
          </p:sp>
          <p:sp>
            <p:nvSpPr>
              <p:cNvPr id="39" name="Freeform: Shape 38">
                <a:extLst>
                  <a:ext uri="{FF2B5EF4-FFF2-40B4-BE49-F238E27FC236}">
                    <a16:creationId xmlns:a16="http://schemas.microsoft.com/office/drawing/2014/main" id="{3AC49360-D5E9-4A51-EF5D-D631551FB9DE}"/>
                  </a:ext>
                </a:extLst>
              </p:cNvPr>
              <p:cNvSpPr/>
              <p:nvPr/>
            </p:nvSpPr>
            <p:spPr>
              <a:xfrm>
                <a:off x="176640" y="3512735"/>
                <a:ext cx="1860933" cy="548760"/>
              </a:xfrm>
              <a:custGeom>
                <a:avLst/>
                <a:gdLst>
                  <a:gd name="csX0" fmla="*/ 0 w 2344837"/>
                  <a:gd name="csY0" fmla="*/ 85491 h 512933"/>
                  <a:gd name="csX1" fmla="*/ 85491 w 2344837"/>
                  <a:gd name="csY1" fmla="*/ 0 h 512933"/>
                  <a:gd name="csX2" fmla="*/ 2259346 w 2344837"/>
                  <a:gd name="csY2" fmla="*/ 0 h 512933"/>
                  <a:gd name="csX3" fmla="*/ 2344837 w 2344837"/>
                  <a:gd name="csY3" fmla="*/ 85491 h 512933"/>
                  <a:gd name="csX4" fmla="*/ 2344837 w 2344837"/>
                  <a:gd name="csY4" fmla="*/ 427442 h 512933"/>
                  <a:gd name="csX5" fmla="*/ 2259346 w 2344837"/>
                  <a:gd name="csY5" fmla="*/ 512933 h 512933"/>
                  <a:gd name="csX6" fmla="*/ 85491 w 2344837"/>
                  <a:gd name="csY6" fmla="*/ 512933 h 512933"/>
                  <a:gd name="csX7" fmla="*/ 0 w 2344837"/>
                  <a:gd name="csY7" fmla="*/ 427442 h 512933"/>
                  <a:gd name="csX8" fmla="*/ 0 w 2344837"/>
                  <a:gd name="csY8" fmla="*/ 85491 h 5129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44837" h="512933">
                    <a:moveTo>
                      <a:pt x="0" y="85491"/>
                    </a:moveTo>
                    <a:cubicBezTo>
                      <a:pt x="0" y="38276"/>
                      <a:pt x="38276" y="0"/>
                      <a:pt x="85491" y="0"/>
                    </a:cubicBezTo>
                    <a:lnTo>
                      <a:pt x="2259346" y="0"/>
                    </a:lnTo>
                    <a:cubicBezTo>
                      <a:pt x="2306561" y="0"/>
                      <a:pt x="2344837" y="38276"/>
                      <a:pt x="2344837" y="85491"/>
                    </a:cubicBezTo>
                    <a:lnTo>
                      <a:pt x="2344837" y="427442"/>
                    </a:lnTo>
                    <a:cubicBezTo>
                      <a:pt x="2344837" y="474657"/>
                      <a:pt x="2306561" y="512933"/>
                      <a:pt x="2259346" y="512933"/>
                    </a:cubicBezTo>
                    <a:lnTo>
                      <a:pt x="85491" y="512933"/>
                    </a:lnTo>
                    <a:cubicBezTo>
                      <a:pt x="38276" y="512933"/>
                      <a:pt x="0" y="474657"/>
                      <a:pt x="0" y="427442"/>
                    </a:cubicBezTo>
                    <a:lnTo>
                      <a:pt x="0" y="85491"/>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49" tIns="105049" rIns="105049" bIns="105049" numCol="1" spcCol="1270" anchor="ctr" anchorCtr="0">
                <a:noAutofit/>
              </a:bodyPr>
              <a:lstStyle/>
              <a:p>
                <a:pPr marL="0" lvl="0" indent="0" algn="ctr" defTabSz="933450">
                  <a:lnSpc>
                    <a:spcPct val="90000"/>
                  </a:lnSpc>
                  <a:spcBef>
                    <a:spcPct val="0"/>
                  </a:spcBef>
                  <a:spcAft>
                    <a:spcPct val="35000"/>
                  </a:spcAft>
                  <a:buNone/>
                </a:pPr>
                <a:endParaRPr lang="en-US" sz="2100" kern="1200" dirty="0"/>
              </a:p>
            </p:txBody>
          </p:sp>
          <p:sp>
            <p:nvSpPr>
              <p:cNvPr id="41" name="Freeform: Shape 40">
                <a:extLst>
                  <a:ext uri="{FF2B5EF4-FFF2-40B4-BE49-F238E27FC236}">
                    <a16:creationId xmlns:a16="http://schemas.microsoft.com/office/drawing/2014/main" id="{96584597-7171-8263-755C-DF06800FAFAE}"/>
                  </a:ext>
                </a:extLst>
              </p:cNvPr>
              <p:cNvSpPr/>
              <p:nvPr/>
            </p:nvSpPr>
            <p:spPr>
              <a:xfrm>
                <a:off x="176640" y="4903092"/>
                <a:ext cx="1854498" cy="488783"/>
              </a:xfrm>
              <a:custGeom>
                <a:avLst/>
                <a:gdLst>
                  <a:gd name="csX0" fmla="*/ 0 w 2344837"/>
                  <a:gd name="csY0" fmla="*/ 85491 h 512933"/>
                  <a:gd name="csX1" fmla="*/ 85491 w 2344837"/>
                  <a:gd name="csY1" fmla="*/ 0 h 512933"/>
                  <a:gd name="csX2" fmla="*/ 2259346 w 2344837"/>
                  <a:gd name="csY2" fmla="*/ 0 h 512933"/>
                  <a:gd name="csX3" fmla="*/ 2344837 w 2344837"/>
                  <a:gd name="csY3" fmla="*/ 85491 h 512933"/>
                  <a:gd name="csX4" fmla="*/ 2344837 w 2344837"/>
                  <a:gd name="csY4" fmla="*/ 427442 h 512933"/>
                  <a:gd name="csX5" fmla="*/ 2259346 w 2344837"/>
                  <a:gd name="csY5" fmla="*/ 512933 h 512933"/>
                  <a:gd name="csX6" fmla="*/ 85491 w 2344837"/>
                  <a:gd name="csY6" fmla="*/ 512933 h 512933"/>
                  <a:gd name="csX7" fmla="*/ 0 w 2344837"/>
                  <a:gd name="csY7" fmla="*/ 427442 h 512933"/>
                  <a:gd name="csX8" fmla="*/ 0 w 2344837"/>
                  <a:gd name="csY8" fmla="*/ 85491 h 5129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44837" h="512933">
                    <a:moveTo>
                      <a:pt x="0" y="85491"/>
                    </a:moveTo>
                    <a:cubicBezTo>
                      <a:pt x="0" y="38276"/>
                      <a:pt x="38276" y="0"/>
                      <a:pt x="85491" y="0"/>
                    </a:cubicBezTo>
                    <a:lnTo>
                      <a:pt x="2259346" y="0"/>
                    </a:lnTo>
                    <a:cubicBezTo>
                      <a:pt x="2306561" y="0"/>
                      <a:pt x="2344837" y="38276"/>
                      <a:pt x="2344837" y="85491"/>
                    </a:cubicBezTo>
                    <a:lnTo>
                      <a:pt x="2344837" y="427442"/>
                    </a:lnTo>
                    <a:cubicBezTo>
                      <a:pt x="2344837" y="474657"/>
                      <a:pt x="2306561" y="512933"/>
                      <a:pt x="2259346" y="512933"/>
                    </a:cubicBezTo>
                    <a:lnTo>
                      <a:pt x="85491" y="512933"/>
                    </a:lnTo>
                    <a:cubicBezTo>
                      <a:pt x="38276" y="512933"/>
                      <a:pt x="0" y="474657"/>
                      <a:pt x="0" y="427442"/>
                    </a:cubicBezTo>
                    <a:lnTo>
                      <a:pt x="0" y="85491"/>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49" tIns="105049" rIns="105049" bIns="105049" numCol="1" spcCol="1270" anchor="ctr" anchorCtr="0">
                <a:noAutofit/>
              </a:bodyPr>
              <a:lstStyle/>
              <a:p>
                <a:pPr marL="0" lvl="0" indent="0" algn="ctr" defTabSz="933450">
                  <a:lnSpc>
                    <a:spcPct val="90000"/>
                  </a:lnSpc>
                  <a:spcBef>
                    <a:spcPct val="0"/>
                  </a:spcBef>
                  <a:spcAft>
                    <a:spcPct val="35000"/>
                  </a:spcAft>
                  <a:buNone/>
                </a:pPr>
                <a:endParaRPr lang="en-US" sz="2100" kern="1200"/>
              </a:p>
            </p:txBody>
          </p:sp>
          <p:sp>
            <p:nvSpPr>
              <p:cNvPr id="42" name="Freeform: Shape 41">
                <a:extLst>
                  <a:ext uri="{FF2B5EF4-FFF2-40B4-BE49-F238E27FC236}">
                    <a16:creationId xmlns:a16="http://schemas.microsoft.com/office/drawing/2014/main" id="{AE3CFEF1-7695-2954-311D-6CC6EB19E7E8}"/>
                  </a:ext>
                </a:extLst>
              </p:cNvPr>
              <p:cNvSpPr/>
              <p:nvPr/>
            </p:nvSpPr>
            <p:spPr>
              <a:xfrm>
                <a:off x="176640" y="5536046"/>
                <a:ext cx="1878452" cy="488783"/>
              </a:xfrm>
              <a:custGeom>
                <a:avLst/>
                <a:gdLst>
                  <a:gd name="csX0" fmla="*/ 0 w 2344837"/>
                  <a:gd name="csY0" fmla="*/ 85491 h 512933"/>
                  <a:gd name="csX1" fmla="*/ 85491 w 2344837"/>
                  <a:gd name="csY1" fmla="*/ 0 h 512933"/>
                  <a:gd name="csX2" fmla="*/ 2259346 w 2344837"/>
                  <a:gd name="csY2" fmla="*/ 0 h 512933"/>
                  <a:gd name="csX3" fmla="*/ 2344837 w 2344837"/>
                  <a:gd name="csY3" fmla="*/ 85491 h 512933"/>
                  <a:gd name="csX4" fmla="*/ 2344837 w 2344837"/>
                  <a:gd name="csY4" fmla="*/ 427442 h 512933"/>
                  <a:gd name="csX5" fmla="*/ 2259346 w 2344837"/>
                  <a:gd name="csY5" fmla="*/ 512933 h 512933"/>
                  <a:gd name="csX6" fmla="*/ 85491 w 2344837"/>
                  <a:gd name="csY6" fmla="*/ 512933 h 512933"/>
                  <a:gd name="csX7" fmla="*/ 0 w 2344837"/>
                  <a:gd name="csY7" fmla="*/ 427442 h 512933"/>
                  <a:gd name="csX8" fmla="*/ 0 w 2344837"/>
                  <a:gd name="csY8" fmla="*/ 85491 h 5129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44837" h="512933">
                    <a:moveTo>
                      <a:pt x="0" y="85491"/>
                    </a:moveTo>
                    <a:cubicBezTo>
                      <a:pt x="0" y="38276"/>
                      <a:pt x="38276" y="0"/>
                      <a:pt x="85491" y="0"/>
                    </a:cubicBezTo>
                    <a:lnTo>
                      <a:pt x="2259346" y="0"/>
                    </a:lnTo>
                    <a:cubicBezTo>
                      <a:pt x="2306561" y="0"/>
                      <a:pt x="2344837" y="38276"/>
                      <a:pt x="2344837" y="85491"/>
                    </a:cubicBezTo>
                    <a:lnTo>
                      <a:pt x="2344837" y="427442"/>
                    </a:lnTo>
                    <a:cubicBezTo>
                      <a:pt x="2344837" y="474657"/>
                      <a:pt x="2306561" y="512933"/>
                      <a:pt x="2259346" y="512933"/>
                    </a:cubicBezTo>
                    <a:lnTo>
                      <a:pt x="85491" y="512933"/>
                    </a:lnTo>
                    <a:cubicBezTo>
                      <a:pt x="38276" y="512933"/>
                      <a:pt x="0" y="474657"/>
                      <a:pt x="0" y="427442"/>
                    </a:cubicBezTo>
                    <a:lnTo>
                      <a:pt x="0" y="85491"/>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49" tIns="105049" rIns="105049" bIns="105049" numCol="1" spcCol="1270" anchor="ctr" anchorCtr="0">
                <a:noAutofit/>
              </a:bodyPr>
              <a:lstStyle/>
              <a:p>
                <a:pPr marL="0" lvl="0" indent="0" algn="ctr" defTabSz="933450">
                  <a:lnSpc>
                    <a:spcPct val="90000"/>
                  </a:lnSpc>
                  <a:spcBef>
                    <a:spcPct val="0"/>
                  </a:spcBef>
                  <a:spcAft>
                    <a:spcPct val="35000"/>
                  </a:spcAft>
                  <a:buNone/>
                </a:pPr>
                <a:endParaRPr lang="en-US" sz="2100" kern="1200"/>
              </a:p>
            </p:txBody>
          </p:sp>
          <p:sp>
            <p:nvSpPr>
              <p:cNvPr id="14" name="TextBox 13">
                <a:extLst>
                  <a:ext uri="{FF2B5EF4-FFF2-40B4-BE49-F238E27FC236}">
                    <a16:creationId xmlns:a16="http://schemas.microsoft.com/office/drawing/2014/main" id="{4DE3A9FE-3E2A-8E98-9B1B-5C1ADBAC0C19}"/>
                  </a:ext>
                </a:extLst>
              </p:cNvPr>
              <p:cNvSpPr txBox="1"/>
              <p:nvPr/>
            </p:nvSpPr>
            <p:spPr>
              <a:xfrm>
                <a:off x="332288" y="5566564"/>
                <a:ext cx="1225895" cy="553998"/>
              </a:xfrm>
              <a:prstGeom prst="rect">
                <a:avLst/>
              </a:prstGeom>
              <a:noFill/>
            </p:spPr>
            <p:txBody>
              <a:bodyPr wrap="square" rtlCol="0">
                <a:spAutoFit/>
              </a:bodyPr>
              <a:lstStyle/>
              <a:p>
                <a:r>
                  <a:rPr lang="en-US" sz="1000" b="1" dirty="0"/>
                  <a:t>Multichannel Engagement</a:t>
                </a:r>
              </a:p>
              <a:p>
                <a:endParaRPr lang="en-US" sz="1000" b="1" dirty="0"/>
              </a:p>
            </p:txBody>
          </p:sp>
          <p:sp>
            <p:nvSpPr>
              <p:cNvPr id="15" name="TextBox 14">
                <a:extLst>
                  <a:ext uri="{FF2B5EF4-FFF2-40B4-BE49-F238E27FC236}">
                    <a16:creationId xmlns:a16="http://schemas.microsoft.com/office/drawing/2014/main" id="{315B8E5A-23B9-E8EC-397C-A91417E616A4}"/>
                  </a:ext>
                </a:extLst>
              </p:cNvPr>
              <p:cNvSpPr txBox="1"/>
              <p:nvPr/>
            </p:nvSpPr>
            <p:spPr>
              <a:xfrm>
                <a:off x="313634" y="3614377"/>
                <a:ext cx="1279716" cy="400110"/>
              </a:xfrm>
              <a:prstGeom prst="rect">
                <a:avLst/>
              </a:prstGeom>
              <a:noFill/>
            </p:spPr>
            <p:txBody>
              <a:bodyPr wrap="square" rtlCol="0">
                <a:spAutoFit/>
              </a:bodyPr>
              <a:lstStyle/>
              <a:p>
                <a:r>
                  <a:rPr lang="en-US" sz="1000" b="1" dirty="0"/>
                  <a:t>Business Growth Support</a:t>
                </a:r>
                <a:r>
                  <a:rPr lang="en-US" sz="1000" dirty="0"/>
                  <a:t> </a:t>
                </a:r>
              </a:p>
            </p:txBody>
          </p:sp>
          <p:sp>
            <p:nvSpPr>
              <p:cNvPr id="18" name="TextBox 17">
                <a:extLst>
                  <a:ext uri="{FF2B5EF4-FFF2-40B4-BE49-F238E27FC236}">
                    <a16:creationId xmlns:a16="http://schemas.microsoft.com/office/drawing/2014/main" id="{22189948-D94B-C0D5-5F61-EB2B685B6AE0}"/>
                  </a:ext>
                </a:extLst>
              </p:cNvPr>
              <p:cNvSpPr txBox="1"/>
              <p:nvPr/>
            </p:nvSpPr>
            <p:spPr>
              <a:xfrm>
                <a:off x="345079" y="4369143"/>
                <a:ext cx="1248271" cy="400110"/>
              </a:xfrm>
              <a:prstGeom prst="rect">
                <a:avLst/>
              </a:prstGeom>
              <a:noFill/>
            </p:spPr>
            <p:txBody>
              <a:bodyPr wrap="square" rtlCol="0">
                <a:spAutoFit/>
              </a:bodyPr>
              <a:lstStyle/>
              <a:p>
                <a:r>
                  <a:rPr lang="en-US" sz="1000" b="1" dirty="0"/>
                  <a:t>Performance Enablement</a:t>
                </a:r>
              </a:p>
            </p:txBody>
          </p:sp>
          <p:sp>
            <p:nvSpPr>
              <p:cNvPr id="21" name="TextBox 20">
                <a:extLst>
                  <a:ext uri="{FF2B5EF4-FFF2-40B4-BE49-F238E27FC236}">
                    <a16:creationId xmlns:a16="http://schemas.microsoft.com/office/drawing/2014/main" id="{D8C1FA2A-A60C-854F-DDCA-68A98FBB38FA}"/>
                  </a:ext>
                </a:extLst>
              </p:cNvPr>
              <p:cNvSpPr txBox="1"/>
              <p:nvPr/>
            </p:nvSpPr>
            <p:spPr>
              <a:xfrm>
                <a:off x="267418" y="5013550"/>
                <a:ext cx="1087146" cy="400110"/>
              </a:xfrm>
              <a:prstGeom prst="rect">
                <a:avLst/>
              </a:prstGeom>
              <a:noFill/>
            </p:spPr>
            <p:txBody>
              <a:bodyPr wrap="square" rtlCol="0">
                <a:spAutoFit/>
              </a:bodyPr>
              <a:lstStyle/>
              <a:p>
                <a:r>
                  <a:rPr lang="en-US" sz="1000" b="1" dirty="0"/>
                  <a:t>Multilingual</a:t>
                </a:r>
              </a:p>
              <a:p>
                <a:r>
                  <a:rPr lang="en-US" sz="1000" b="1" dirty="0"/>
                  <a:t> Capability</a:t>
                </a:r>
                <a:r>
                  <a:rPr lang="en-US" sz="1000" dirty="0"/>
                  <a:t> </a:t>
                </a:r>
                <a:endParaRPr lang="en-US" sz="900" dirty="0"/>
              </a:p>
            </p:txBody>
          </p:sp>
          <p:sp>
            <p:nvSpPr>
              <p:cNvPr id="22" name="TextBox 21">
                <a:extLst>
                  <a:ext uri="{FF2B5EF4-FFF2-40B4-BE49-F238E27FC236}">
                    <a16:creationId xmlns:a16="http://schemas.microsoft.com/office/drawing/2014/main" id="{224E4EC2-C3CE-C46E-7EFE-53F8033A76FC}"/>
                  </a:ext>
                </a:extLst>
              </p:cNvPr>
              <p:cNvSpPr txBox="1"/>
              <p:nvPr/>
            </p:nvSpPr>
            <p:spPr>
              <a:xfrm>
                <a:off x="392678" y="2917519"/>
                <a:ext cx="1276803" cy="400110"/>
              </a:xfrm>
              <a:prstGeom prst="rect">
                <a:avLst/>
              </a:prstGeom>
              <a:noFill/>
            </p:spPr>
            <p:txBody>
              <a:bodyPr wrap="square" rtlCol="0">
                <a:spAutoFit/>
              </a:bodyPr>
              <a:lstStyle/>
              <a:p>
                <a:r>
                  <a:rPr lang="en-US" sz="1000" b="1" dirty="0"/>
                  <a:t>Women’s </a:t>
                </a:r>
              </a:p>
              <a:p>
                <a:r>
                  <a:rPr lang="en-US" sz="1000" b="1" dirty="0"/>
                  <a:t>Safety &amp; Care</a:t>
                </a:r>
                <a:endParaRPr lang="en-US" sz="1000" dirty="0"/>
              </a:p>
            </p:txBody>
          </p:sp>
        </p:grpSp>
        <p:sp>
          <p:nvSpPr>
            <p:cNvPr id="182" name="Freeform: Shape 181">
              <a:extLst>
                <a:ext uri="{FF2B5EF4-FFF2-40B4-BE49-F238E27FC236}">
                  <a16:creationId xmlns:a16="http://schemas.microsoft.com/office/drawing/2014/main" id="{23D7B8AA-758B-BA8C-30E8-4019F7F63BA5}"/>
                </a:ext>
              </a:extLst>
            </p:cNvPr>
            <p:cNvSpPr/>
            <p:nvPr/>
          </p:nvSpPr>
          <p:spPr>
            <a:xfrm>
              <a:off x="2763241" y="5045988"/>
              <a:ext cx="4217701" cy="649969"/>
            </a:xfrm>
            <a:custGeom>
              <a:avLst/>
              <a:gdLst>
                <a:gd name="csX0" fmla="*/ 0 w 4601800"/>
                <a:gd name="csY0" fmla="*/ 0 h 649199"/>
                <a:gd name="csX1" fmla="*/ 4601800 w 4601800"/>
                <a:gd name="csY1" fmla="*/ 0 h 649199"/>
                <a:gd name="csX2" fmla="*/ 4601800 w 4601800"/>
                <a:gd name="csY2" fmla="*/ 649199 h 649199"/>
                <a:gd name="csX3" fmla="*/ 0 w 4601800"/>
                <a:gd name="csY3" fmla="*/ 649199 h 649199"/>
                <a:gd name="csX4" fmla="*/ 0 w 4601800"/>
                <a:gd name="csY4" fmla="*/ 0 h 649199"/>
              </a:gdLst>
              <a:ahLst/>
              <a:cxnLst>
                <a:cxn ang="0">
                  <a:pos x="csX0" y="csY0"/>
                </a:cxn>
                <a:cxn ang="0">
                  <a:pos x="csX1" y="csY1"/>
                </a:cxn>
                <a:cxn ang="0">
                  <a:pos x="csX2" y="csY2"/>
                </a:cxn>
                <a:cxn ang="0">
                  <a:pos x="csX3" y="csY3"/>
                </a:cxn>
                <a:cxn ang="0">
                  <a:pos x="csX4" y="csY4"/>
                </a:cxn>
              </a:cxnLst>
              <a:rect l="l" t="t" r="r" b="b"/>
              <a:pathLst>
                <a:path w="4601800" h="649199">
                  <a:moveTo>
                    <a:pt x="0" y="0"/>
                  </a:moveTo>
                  <a:lnTo>
                    <a:pt x="4601800" y="0"/>
                  </a:lnTo>
                  <a:lnTo>
                    <a:pt x="4601800" y="649199"/>
                  </a:lnTo>
                  <a:lnTo>
                    <a:pt x="0" y="64919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5302" tIns="22860" rIns="22860" bIns="22860" numCol="1" spcCol="1270" anchor="ctr" anchorCtr="0">
              <a:noAutofit/>
            </a:bodyPr>
            <a:lstStyle/>
            <a:p>
              <a:r>
                <a:rPr lang="en-US" sz="1000" dirty="0"/>
                <a:t>Equipped expat associates with targeted vocabulary and grammatical training to bridge language barriers across multiple geographies, ensuring every interaction was handled with clarity and professionalism regardless of regional context.</a:t>
              </a:r>
            </a:p>
          </p:txBody>
        </p:sp>
        <p:sp>
          <p:nvSpPr>
            <p:cNvPr id="183" name="Freeform: Shape 182">
              <a:extLst>
                <a:ext uri="{FF2B5EF4-FFF2-40B4-BE49-F238E27FC236}">
                  <a16:creationId xmlns:a16="http://schemas.microsoft.com/office/drawing/2014/main" id="{06FB6C2A-62BC-76F5-451A-B13C69DA477A}"/>
                </a:ext>
              </a:extLst>
            </p:cNvPr>
            <p:cNvSpPr/>
            <p:nvPr/>
          </p:nvSpPr>
          <p:spPr>
            <a:xfrm>
              <a:off x="2354467" y="2897564"/>
              <a:ext cx="4640445" cy="649432"/>
            </a:xfrm>
            <a:custGeom>
              <a:avLst/>
              <a:gdLst>
                <a:gd name="csX0" fmla="*/ 0 w 5066997"/>
                <a:gd name="csY0" fmla="*/ 0 h 649199"/>
                <a:gd name="csX1" fmla="*/ 5066997 w 5066997"/>
                <a:gd name="csY1" fmla="*/ 0 h 649199"/>
                <a:gd name="csX2" fmla="*/ 5066997 w 5066997"/>
                <a:gd name="csY2" fmla="*/ 649199 h 649199"/>
                <a:gd name="csX3" fmla="*/ 0 w 5066997"/>
                <a:gd name="csY3" fmla="*/ 649199 h 649199"/>
                <a:gd name="csX4" fmla="*/ 0 w 5066997"/>
                <a:gd name="csY4" fmla="*/ 0 h 649199"/>
              </a:gdLst>
              <a:ahLst/>
              <a:cxnLst>
                <a:cxn ang="0">
                  <a:pos x="csX0" y="csY0"/>
                </a:cxn>
                <a:cxn ang="0">
                  <a:pos x="csX1" y="csY1"/>
                </a:cxn>
                <a:cxn ang="0">
                  <a:pos x="csX2" y="csY2"/>
                </a:cxn>
                <a:cxn ang="0">
                  <a:pos x="csX3" y="csY3"/>
                </a:cxn>
                <a:cxn ang="0">
                  <a:pos x="csX4" y="csY4"/>
                </a:cxn>
              </a:cxnLst>
              <a:rect l="l" t="t" r="r" b="b"/>
              <a:pathLst>
                <a:path w="5066997" h="649199">
                  <a:moveTo>
                    <a:pt x="0" y="0"/>
                  </a:moveTo>
                  <a:lnTo>
                    <a:pt x="5066997" y="0"/>
                  </a:lnTo>
                  <a:lnTo>
                    <a:pt x="5066997" y="649199"/>
                  </a:lnTo>
                  <a:lnTo>
                    <a:pt x="0" y="64919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5302" tIns="22860" rIns="22860" bIns="22860" numCol="1" spcCol="1270" anchor="ctr" anchorCtr="0">
              <a:noAutofit/>
            </a:bodyPr>
            <a:lstStyle/>
            <a:p>
              <a:pPr marL="0" lvl="0" indent="0" algn="l" defTabSz="400050">
                <a:lnSpc>
                  <a:spcPct val="90000"/>
                </a:lnSpc>
                <a:spcBef>
                  <a:spcPct val="0"/>
                </a:spcBef>
                <a:spcAft>
                  <a:spcPct val="35000"/>
                </a:spcAft>
                <a:buNone/>
              </a:pPr>
              <a:r>
                <a:rPr lang="en-US" sz="1000" kern="1200" dirty="0"/>
                <a:t>Suggested to the client deployment of a SOS facility for female riders and drivers, supported by a 24x7 dedicated helpline, a specialized QA team reviewing safety cases at set intervals, and  follow-up calls for every SOS instance  building trust and reinforcing positive brand sentiment.</a:t>
              </a:r>
            </a:p>
          </p:txBody>
        </p:sp>
        <p:sp>
          <p:nvSpPr>
            <p:cNvPr id="184" name="Oval 183">
              <a:extLst>
                <a:ext uri="{FF2B5EF4-FFF2-40B4-BE49-F238E27FC236}">
                  <a16:creationId xmlns:a16="http://schemas.microsoft.com/office/drawing/2014/main" id="{4E6AA778-98E1-BE7E-306B-279194BB4332}"/>
                </a:ext>
              </a:extLst>
            </p:cNvPr>
            <p:cNvSpPr/>
            <p:nvPr/>
          </p:nvSpPr>
          <p:spPr>
            <a:xfrm>
              <a:off x="1888373" y="2922781"/>
              <a:ext cx="836653" cy="55549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85" name="Freeform: Shape 184">
              <a:extLst>
                <a:ext uri="{FF2B5EF4-FFF2-40B4-BE49-F238E27FC236}">
                  <a16:creationId xmlns:a16="http://schemas.microsoft.com/office/drawing/2014/main" id="{FCB2F406-72C9-2ED3-69BB-E034301AB6F5}"/>
                </a:ext>
              </a:extLst>
            </p:cNvPr>
            <p:cNvSpPr/>
            <p:nvPr/>
          </p:nvSpPr>
          <p:spPr>
            <a:xfrm>
              <a:off x="2899772" y="3588748"/>
              <a:ext cx="4081170" cy="704981"/>
            </a:xfrm>
            <a:custGeom>
              <a:avLst/>
              <a:gdLst>
                <a:gd name="csX0" fmla="*/ 0 w 4601800"/>
                <a:gd name="csY0" fmla="*/ 0 h 649199"/>
                <a:gd name="csX1" fmla="*/ 4601800 w 4601800"/>
                <a:gd name="csY1" fmla="*/ 0 h 649199"/>
                <a:gd name="csX2" fmla="*/ 4601800 w 4601800"/>
                <a:gd name="csY2" fmla="*/ 649199 h 649199"/>
                <a:gd name="csX3" fmla="*/ 0 w 4601800"/>
                <a:gd name="csY3" fmla="*/ 649199 h 649199"/>
                <a:gd name="csX4" fmla="*/ 0 w 4601800"/>
                <a:gd name="csY4" fmla="*/ 0 h 649199"/>
              </a:gdLst>
              <a:ahLst/>
              <a:cxnLst>
                <a:cxn ang="0">
                  <a:pos x="csX0" y="csY0"/>
                </a:cxn>
                <a:cxn ang="0">
                  <a:pos x="csX1" y="csY1"/>
                </a:cxn>
                <a:cxn ang="0">
                  <a:pos x="csX2" y="csY2"/>
                </a:cxn>
                <a:cxn ang="0">
                  <a:pos x="csX3" y="csY3"/>
                </a:cxn>
                <a:cxn ang="0">
                  <a:pos x="csX4" y="csY4"/>
                </a:cxn>
              </a:cxnLst>
              <a:rect l="l" t="t" r="r" b="b"/>
              <a:pathLst>
                <a:path w="4601800" h="649199">
                  <a:moveTo>
                    <a:pt x="0" y="0"/>
                  </a:moveTo>
                  <a:lnTo>
                    <a:pt x="4601800" y="0"/>
                  </a:lnTo>
                  <a:lnTo>
                    <a:pt x="4601800" y="649199"/>
                  </a:lnTo>
                  <a:lnTo>
                    <a:pt x="0" y="64919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5302" tIns="22860" rIns="22860" bIns="22860" numCol="1" spcCol="1270" anchor="ctr" anchorCtr="0">
              <a:noAutofit/>
            </a:bodyPr>
            <a:lstStyle/>
            <a:p>
              <a:r>
                <a:rPr lang="en-US" sz="1000" dirty="0"/>
                <a:t>Deployed business development support to strengthen partner performance, providing strategic guidance to help partners optimize operations and unlock growth opportunities within the ecosystem.</a:t>
              </a:r>
            </a:p>
          </p:txBody>
        </p:sp>
        <p:sp>
          <p:nvSpPr>
            <p:cNvPr id="186" name="Oval 185">
              <a:extLst>
                <a:ext uri="{FF2B5EF4-FFF2-40B4-BE49-F238E27FC236}">
                  <a16:creationId xmlns:a16="http://schemas.microsoft.com/office/drawing/2014/main" id="{CE108B6F-FA5A-05C1-3329-367B52F3ADA4}"/>
                </a:ext>
              </a:extLst>
            </p:cNvPr>
            <p:cNvSpPr/>
            <p:nvPr/>
          </p:nvSpPr>
          <p:spPr>
            <a:xfrm>
              <a:off x="2322687" y="3747230"/>
              <a:ext cx="836653" cy="55549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87" name="Freeform: Shape 186">
              <a:extLst>
                <a:ext uri="{FF2B5EF4-FFF2-40B4-BE49-F238E27FC236}">
                  <a16:creationId xmlns:a16="http://schemas.microsoft.com/office/drawing/2014/main" id="{82AAF435-A473-FD0C-42B1-A2F9309454DD}"/>
                </a:ext>
              </a:extLst>
            </p:cNvPr>
            <p:cNvSpPr/>
            <p:nvPr/>
          </p:nvSpPr>
          <p:spPr>
            <a:xfrm>
              <a:off x="2873192" y="4303832"/>
              <a:ext cx="4126006" cy="683332"/>
            </a:xfrm>
            <a:custGeom>
              <a:avLst/>
              <a:gdLst>
                <a:gd name="csX0" fmla="*/ 0 w 4459022"/>
                <a:gd name="csY0" fmla="*/ 0 h 649199"/>
                <a:gd name="csX1" fmla="*/ 4459022 w 4459022"/>
                <a:gd name="csY1" fmla="*/ 0 h 649199"/>
                <a:gd name="csX2" fmla="*/ 4459022 w 4459022"/>
                <a:gd name="csY2" fmla="*/ 649199 h 649199"/>
                <a:gd name="csX3" fmla="*/ 0 w 4459022"/>
                <a:gd name="csY3" fmla="*/ 649199 h 649199"/>
                <a:gd name="csX4" fmla="*/ 0 w 4459022"/>
                <a:gd name="csY4" fmla="*/ 0 h 649199"/>
              </a:gdLst>
              <a:ahLst/>
              <a:cxnLst>
                <a:cxn ang="0">
                  <a:pos x="csX0" y="csY0"/>
                </a:cxn>
                <a:cxn ang="0">
                  <a:pos x="csX1" y="csY1"/>
                </a:cxn>
                <a:cxn ang="0">
                  <a:pos x="csX2" y="csY2"/>
                </a:cxn>
                <a:cxn ang="0">
                  <a:pos x="csX3" y="csY3"/>
                </a:cxn>
                <a:cxn ang="0">
                  <a:pos x="csX4" y="csY4"/>
                </a:cxn>
              </a:cxnLst>
              <a:rect l="l" t="t" r="r" b="b"/>
              <a:pathLst>
                <a:path w="4459022" h="649199">
                  <a:moveTo>
                    <a:pt x="0" y="0"/>
                  </a:moveTo>
                  <a:lnTo>
                    <a:pt x="4459022" y="0"/>
                  </a:lnTo>
                  <a:lnTo>
                    <a:pt x="4459022" y="649199"/>
                  </a:lnTo>
                  <a:lnTo>
                    <a:pt x="0" y="64919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5302" tIns="22860" rIns="22860" bIns="22860" numCol="1" spcCol="1270" anchor="ctr" anchorCtr="0">
              <a:noAutofit/>
            </a:bodyPr>
            <a:lstStyle/>
            <a:p>
              <a:r>
                <a:rPr lang="en-US" sz="1000" dirty="0"/>
                <a:t>Implemented the </a:t>
              </a:r>
              <a:r>
                <a:rPr lang="en-US" sz="1000" dirty="0" err="1"/>
                <a:t>i</a:t>
              </a:r>
              <a:r>
                <a:rPr lang="en-US" sz="1000" dirty="0"/>
                <a:t>-Star program as a structured framework to drive associate productivity, complemented by </a:t>
              </a:r>
              <a:r>
                <a:rPr lang="en-US" sz="1000" dirty="0" err="1"/>
                <a:t>outcalling</a:t>
              </a:r>
              <a:r>
                <a:rPr lang="en-US" sz="1000" dirty="0"/>
                <a:t> campaigns to re-engage inactive personnel and keep the workforce aligned with operational goals.</a:t>
              </a:r>
            </a:p>
          </p:txBody>
        </p:sp>
        <p:sp>
          <p:nvSpPr>
            <p:cNvPr id="188" name="Oval 187">
              <a:extLst>
                <a:ext uri="{FF2B5EF4-FFF2-40B4-BE49-F238E27FC236}">
                  <a16:creationId xmlns:a16="http://schemas.microsoft.com/office/drawing/2014/main" id="{9E2F921F-5154-6070-FC00-641F9AE4F835}"/>
                </a:ext>
              </a:extLst>
            </p:cNvPr>
            <p:cNvSpPr/>
            <p:nvPr/>
          </p:nvSpPr>
          <p:spPr>
            <a:xfrm>
              <a:off x="2469893" y="4413612"/>
              <a:ext cx="836653" cy="55549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89" name="Oval 188">
              <a:extLst>
                <a:ext uri="{FF2B5EF4-FFF2-40B4-BE49-F238E27FC236}">
                  <a16:creationId xmlns:a16="http://schemas.microsoft.com/office/drawing/2014/main" id="{0086F348-EF4F-5071-5196-8D6627291D68}"/>
                </a:ext>
              </a:extLst>
            </p:cNvPr>
            <p:cNvSpPr/>
            <p:nvPr/>
          </p:nvSpPr>
          <p:spPr>
            <a:xfrm>
              <a:off x="2322687" y="5079993"/>
              <a:ext cx="836653" cy="55549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90" name="Freeform: Shape 189">
              <a:extLst>
                <a:ext uri="{FF2B5EF4-FFF2-40B4-BE49-F238E27FC236}">
                  <a16:creationId xmlns:a16="http://schemas.microsoft.com/office/drawing/2014/main" id="{1CFE03E9-C9B3-AC5B-63EE-6A405E8C3E9F}"/>
                </a:ext>
              </a:extLst>
            </p:cNvPr>
            <p:cNvSpPr/>
            <p:nvPr/>
          </p:nvSpPr>
          <p:spPr>
            <a:xfrm>
              <a:off x="2261397" y="5746376"/>
              <a:ext cx="4719545" cy="652608"/>
            </a:xfrm>
            <a:custGeom>
              <a:avLst/>
              <a:gdLst>
                <a:gd name="csX0" fmla="*/ 0 w 5066997"/>
                <a:gd name="csY0" fmla="*/ 0 h 649199"/>
                <a:gd name="csX1" fmla="*/ 5066997 w 5066997"/>
                <a:gd name="csY1" fmla="*/ 0 h 649199"/>
                <a:gd name="csX2" fmla="*/ 5066997 w 5066997"/>
                <a:gd name="csY2" fmla="*/ 649199 h 649199"/>
                <a:gd name="csX3" fmla="*/ 0 w 5066997"/>
                <a:gd name="csY3" fmla="*/ 649199 h 649199"/>
                <a:gd name="csX4" fmla="*/ 0 w 5066997"/>
                <a:gd name="csY4" fmla="*/ 0 h 649199"/>
              </a:gdLst>
              <a:ahLst/>
              <a:cxnLst>
                <a:cxn ang="0">
                  <a:pos x="csX0" y="csY0"/>
                </a:cxn>
                <a:cxn ang="0">
                  <a:pos x="csX1" y="csY1"/>
                </a:cxn>
                <a:cxn ang="0">
                  <a:pos x="csX2" y="csY2"/>
                </a:cxn>
                <a:cxn ang="0">
                  <a:pos x="csX3" y="csY3"/>
                </a:cxn>
                <a:cxn ang="0">
                  <a:pos x="csX4" y="csY4"/>
                </a:cxn>
              </a:cxnLst>
              <a:rect l="l" t="t" r="r" b="b"/>
              <a:pathLst>
                <a:path w="5066997" h="649199">
                  <a:moveTo>
                    <a:pt x="0" y="0"/>
                  </a:moveTo>
                  <a:lnTo>
                    <a:pt x="5066997" y="0"/>
                  </a:lnTo>
                  <a:lnTo>
                    <a:pt x="5066997" y="649199"/>
                  </a:lnTo>
                  <a:lnTo>
                    <a:pt x="0" y="64919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15302" tIns="22860" rIns="22860" bIns="22860" numCol="1" spcCol="1270" anchor="ctr" anchorCtr="0">
              <a:noAutofit/>
            </a:bodyPr>
            <a:lstStyle/>
            <a:p>
              <a:r>
                <a:rPr lang="en-US" sz="1000" dirty="0"/>
                <a:t>Deployed a multichannel solution creating seamless touchpoints for end users and the service delivery team, ensuring communication remained consistent and responsive across all channels to reduce service gaps and improve user experience.</a:t>
              </a:r>
            </a:p>
          </p:txBody>
        </p:sp>
        <p:sp>
          <p:nvSpPr>
            <p:cNvPr id="191" name="Oval 190">
              <a:extLst>
                <a:ext uri="{FF2B5EF4-FFF2-40B4-BE49-F238E27FC236}">
                  <a16:creationId xmlns:a16="http://schemas.microsoft.com/office/drawing/2014/main" id="{6B38D84C-BA28-B6D3-E5B1-C1B7BFDFAEF3}"/>
                </a:ext>
              </a:extLst>
            </p:cNvPr>
            <p:cNvSpPr/>
            <p:nvPr/>
          </p:nvSpPr>
          <p:spPr>
            <a:xfrm>
              <a:off x="1843069" y="5746377"/>
              <a:ext cx="836653" cy="55549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92" name="TextBox 191">
              <a:extLst>
                <a:ext uri="{FF2B5EF4-FFF2-40B4-BE49-F238E27FC236}">
                  <a16:creationId xmlns:a16="http://schemas.microsoft.com/office/drawing/2014/main" id="{889D9E06-B171-4765-7BE6-06D032AA72E2}"/>
                </a:ext>
              </a:extLst>
            </p:cNvPr>
            <p:cNvSpPr txBox="1"/>
            <p:nvPr/>
          </p:nvSpPr>
          <p:spPr>
            <a:xfrm>
              <a:off x="2610097" y="3855854"/>
              <a:ext cx="354927" cy="257297"/>
            </a:xfrm>
            <a:prstGeom prst="rect">
              <a:avLst/>
            </a:prstGeom>
            <a:noFill/>
          </p:spPr>
          <p:txBody>
            <a:bodyPr wrap="square" rtlCol="0">
              <a:spAutoFit/>
            </a:bodyPr>
            <a:lstStyle/>
            <a:p>
              <a:r>
                <a:rPr lang="en-US" b="1" dirty="0"/>
                <a:t>2</a:t>
              </a:r>
            </a:p>
          </p:txBody>
        </p:sp>
        <p:sp>
          <p:nvSpPr>
            <p:cNvPr id="193" name="TextBox 192">
              <a:extLst>
                <a:ext uri="{FF2B5EF4-FFF2-40B4-BE49-F238E27FC236}">
                  <a16:creationId xmlns:a16="http://schemas.microsoft.com/office/drawing/2014/main" id="{4B8CC84C-16EA-FF52-B2FF-7E63870732FB}"/>
                </a:ext>
              </a:extLst>
            </p:cNvPr>
            <p:cNvSpPr txBox="1"/>
            <p:nvPr/>
          </p:nvSpPr>
          <p:spPr>
            <a:xfrm>
              <a:off x="2581901" y="5189235"/>
              <a:ext cx="354927" cy="257297"/>
            </a:xfrm>
            <a:prstGeom prst="rect">
              <a:avLst/>
            </a:prstGeom>
            <a:noFill/>
          </p:spPr>
          <p:txBody>
            <a:bodyPr wrap="square" rtlCol="0">
              <a:spAutoFit/>
            </a:bodyPr>
            <a:lstStyle/>
            <a:p>
              <a:r>
                <a:rPr lang="en-US" b="1" dirty="0"/>
                <a:t>4</a:t>
              </a:r>
            </a:p>
          </p:txBody>
        </p:sp>
        <p:sp>
          <p:nvSpPr>
            <p:cNvPr id="194" name="TextBox 193">
              <a:extLst>
                <a:ext uri="{FF2B5EF4-FFF2-40B4-BE49-F238E27FC236}">
                  <a16:creationId xmlns:a16="http://schemas.microsoft.com/office/drawing/2014/main" id="{1165A9AB-DFF6-34DA-E04F-8C269F55B3BD}"/>
                </a:ext>
              </a:extLst>
            </p:cNvPr>
            <p:cNvSpPr txBox="1"/>
            <p:nvPr/>
          </p:nvSpPr>
          <p:spPr>
            <a:xfrm>
              <a:off x="2145223" y="5854072"/>
              <a:ext cx="354927" cy="257297"/>
            </a:xfrm>
            <a:prstGeom prst="rect">
              <a:avLst/>
            </a:prstGeom>
            <a:noFill/>
          </p:spPr>
          <p:txBody>
            <a:bodyPr wrap="square" rtlCol="0">
              <a:spAutoFit/>
            </a:bodyPr>
            <a:lstStyle/>
            <a:p>
              <a:r>
                <a:rPr lang="en-US" b="1" dirty="0"/>
                <a:t>5</a:t>
              </a:r>
            </a:p>
          </p:txBody>
        </p:sp>
        <p:sp>
          <p:nvSpPr>
            <p:cNvPr id="195" name="TextBox 194">
              <a:extLst>
                <a:ext uri="{FF2B5EF4-FFF2-40B4-BE49-F238E27FC236}">
                  <a16:creationId xmlns:a16="http://schemas.microsoft.com/office/drawing/2014/main" id="{7CF422C9-99BF-0D18-B72B-790B98308F2A}"/>
                </a:ext>
              </a:extLst>
            </p:cNvPr>
            <p:cNvSpPr txBox="1"/>
            <p:nvPr/>
          </p:nvSpPr>
          <p:spPr>
            <a:xfrm>
              <a:off x="2145223" y="3063666"/>
              <a:ext cx="354927" cy="257297"/>
            </a:xfrm>
            <a:prstGeom prst="rect">
              <a:avLst/>
            </a:prstGeom>
            <a:noFill/>
          </p:spPr>
          <p:txBody>
            <a:bodyPr wrap="square" rtlCol="0">
              <a:spAutoFit/>
            </a:bodyPr>
            <a:lstStyle/>
            <a:p>
              <a:r>
                <a:rPr lang="en-US" b="1" dirty="0"/>
                <a:t>1</a:t>
              </a:r>
            </a:p>
          </p:txBody>
        </p:sp>
        <p:sp>
          <p:nvSpPr>
            <p:cNvPr id="196" name="TextBox 195">
              <a:extLst>
                <a:ext uri="{FF2B5EF4-FFF2-40B4-BE49-F238E27FC236}">
                  <a16:creationId xmlns:a16="http://schemas.microsoft.com/office/drawing/2014/main" id="{BFAA40CE-B6EF-24B7-E16D-F5C71AC3D0BE}"/>
                </a:ext>
              </a:extLst>
            </p:cNvPr>
            <p:cNvSpPr txBox="1"/>
            <p:nvPr/>
          </p:nvSpPr>
          <p:spPr>
            <a:xfrm>
              <a:off x="2753093" y="4480025"/>
              <a:ext cx="377099" cy="362904"/>
            </a:xfrm>
            <a:prstGeom prst="rect">
              <a:avLst/>
            </a:prstGeom>
            <a:noFill/>
          </p:spPr>
          <p:txBody>
            <a:bodyPr wrap="square" rtlCol="0">
              <a:spAutoFit/>
            </a:bodyPr>
            <a:lstStyle/>
            <a:p>
              <a:r>
                <a:rPr lang="en-US" b="1" dirty="0"/>
                <a:t>3</a:t>
              </a:r>
            </a:p>
          </p:txBody>
        </p:sp>
      </p:grpSp>
      <p:sp>
        <p:nvSpPr>
          <p:cNvPr id="197" name="TextBox 196">
            <a:extLst>
              <a:ext uri="{FF2B5EF4-FFF2-40B4-BE49-F238E27FC236}">
                <a16:creationId xmlns:a16="http://schemas.microsoft.com/office/drawing/2014/main" id="{1BE400A2-8E1F-006A-CCF0-4A5B9D1CA39F}"/>
              </a:ext>
            </a:extLst>
          </p:cNvPr>
          <p:cNvSpPr txBox="1"/>
          <p:nvPr/>
        </p:nvSpPr>
        <p:spPr>
          <a:xfrm>
            <a:off x="7342302" y="1561931"/>
            <a:ext cx="2933296" cy="369332"/>
          </a:xfrm>
          <a:prstGeom prst="rect">
            <a:avLst/>
          </a:prstGeom>
          <a:noFill/>
        </p:spPr>
        <p:txBody>
          <a:bodyPr wrap="square" rtlCol="0">
            <a:spAutoFit/>
          </a:bodyPr>
          <a:lstStyle/>
          <a:p>
            <a:r>
              <a:rPr lang="en-US" b="1" dirty="0"/>
              <a:t>Channel &amp; Services</a:t>
            </a:r>
            <a:endParaRPr lang="en-KE" b="1" dirty="0"/>
          </a:p>
        </p:txBody>
      </p:sp>
    </p:spTree>
    <p:extLst>
      <p:ext uri="{BB962C8B-B14F-4D97-AF65-F5344CB8AC3E}">
        <p14:creationId xmlns:p14="http://schemas.microsoft.com/office/powerpoint/2010/main" val="330336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26" name="Picture 2" descr="Logo&#10;&#10;Description automatically generated">
            <a:extLst>
              <a:ext uri="{FF2B5EF4-FFF2-40B4-BE49-F238E27FC236}">
                <a16:creationId xmlns:a16="http://schemas.microsoft.com/office/drawing/2014/main" id="{F30F37B2-E581-B442-62D6-91ED226BBC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62548" y="6550702"/>
            <a:ext cx="1279863" cy="30729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22D00D77-F985-F821-A872-BD9257F654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57810" y="117111"/>
            <a:ext cx="1084601" cy="375767"/>
          </a:xfrm>
          <a:prstGeom prst="rect">
            <a:avLst/>
          </a:prstGeom>
        </p:spPr>
      </p:pic>
      <p:grpSp>
        <p:nvGrpSpPr>
          <p:cNvPr id="1065" name="Group 1064">
            <a:extLst>
              <a:ext uri="{FF2B5EF4-FFF2-40B4-BE49-F238E27FC236}">
                <a16:creationId xmlns:a16="http://schemas.microsoft.com/office/drawing/2014/main" id="{16420C2D-A7D4-59A1-30DD-A9A3F98C1AE9}"/>
              </a:ext>
            </a:extLst>
          </p:cNvPr>
          <p:cNvGrpSpPr/>
          <p:nvPr/>
        </p:nvGrpSpPr>
        <p:grpSpPr>
          <a:xfrm>
            <a:off x="9070146" y="1529135"/>
            <a:ext cx="3384803" cy="2458854"/>
            <a:chOff x="7181877" y="890003"/>
            <a:chExt cx="3384803" cy="2458854"/>
          </a:xfrm>
        </p:grpSpPr>
        <p:sp>
          <p:nvSpPr>
            <p:cNvPr id="6" name="Rectangle: Rounded Corners 5">
              <a:extLst>
                <a:ext uri="{FF2B5EF4-FFF2-40B4-BE49-F238E27FC236}">
                  <a16:creationId xmlns:a16="http://schemas.microsoft.com/office/drawing/2014/main" id="{F3F713B0-D444-7D03-8940-78F7B4EDDBC3}"/>
                </a:ext>
              </a:extLst>
            </p:cNvPr>
            <p:cNvSpPr/>
            <p:nvPr/>
          </p:nvSpPr>
          <p:spPr>
            <a:xfrm>
              <a:off x="7264444" y="890003"/>
              <a:ext cx="3025460" cy="2383234"/>
            </a:xfrm>
            <a:prstGeom prst="roundRect">
              <a:avLst>
                <a:gd name="adj" fmla="val 4031"/>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51" name="TextBox 50">
              <a:extLst>
                <a:ext uri="{FF2B5EF4-FFF2-40B4-BE49-F238E27FC236}">
                  <a16:creationId xmlns:a16="http://schemas.microsoft.com/office/drawing/2014/main" id="{67D85F53-4235-AC0A-E343-4607741BACCA}"/>
                </a:ext>
              </a:extLst>
            </p:cNvPr>
            <p:cNvSpPr txBox="1"/>
            <p:nvPr/>
          </p:nvSpPr>
          <p:spPr>
            <a:xfrm>
              <a:off x="8342688" y="2964198"/>
              <a:ext cx="970873" cy="338554"/>
            </a:xfrm>
            <a:prstGeom prst="rect">
              <a:avLst/>
            </a:prstGeom>
            <a:noFill/>
          </p:spPr>
          <p:txBody>
            <a:bodyPr wrap="square">
              <a:spAutoFit/>
            </a:bodyPr>
            <a:lstStyle/>
            <a:p>
              <a:r>
                <a:rPr kumimoji="0" lang="en-US" sz="800" b="0" i="0" u="none" strike="noStrike" kern="1200" cap="none" spc="0" normalizeH="0" baseline="0" noProof="0" dirty="0">
                  <a:ln>
                    <a:noFill/>
                  </a:ln>
                  <a:solidFill>
                    <a:srgbClr val="30302D"/>
                  </a:solidFill>
                  <a:effectLst/>
                  <a:uLnTx/>
                  <a:uFillTx/>
                  <a:latin typeface="Verdana"/>
                  <a:ea typeface="+mn-ea"/>
                  <a:cs typeface="+mn-cs"/>
                </a:rPr>
                <a:t>Performance</a:t>
              </a:r>
            </a:p>
            <a:p>
              <a:r>
                <a:rPr lang="en-US" sz="800" dirty="0">
                  <a:solidFill>
                    <a:srgbClr val="30302D"/>
                  </a:solidFill>
                  <a:latin typeface="Verdana"/>
                </a:rPr>
                <a:t>enhancement</a:t>
              </a:r>
              <a:endParaRPr lang="en-US" sz="800" dirty="0"/>
            </a:p>
          </p:txBody>
        </p:sp>
        <p:pic>
          <p:nvPicPr>
            <p:cNvPr id="1036" name="Graphic 1035" descr="Open envelope outline">
              <a:extLst>
                <a:ext uri="{FF2B5EF4-FFF2-40B4-BE49-F238E27FC236}">
                  <a16:creationId xmlns:a16="http://schemas.microsoft.com/office/drawing/2014/main" id="{D37E6F60-9248-12F9-8C6E-8CE379D9DC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41202" y="1029966"/>
              <a:ext cx="375962" cy="323617"/>
            </a:xfrm>
            <a:prstGeom prst="rect">
              <a:avLst/>
            </a:prstGeom>
          </p:spPr>
        </p:pic>
        <p:pic>
          <p:nvPicPr>
            <p:cNvPr id="1024" name="Graphic 1023" descr="Call center with solid fill">
              <a:extLst>
                <a:ext uri="{FF2B5EF4-FFF2-40B4-BE49-F238E27FC236}">
                  <a16:creationId xmlns:a16="http://schemas.microsoft.com/office/drawing/2014/main" id="{95777DEE-6370-0EB2-2432-2A2D85D2BD3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28983" y="1532881"/>
              <a:ext cx="631157" cy="523891"/>
            </a:xfrm>
            <a:prstGeom prst="rect">
              <a:avLst/>
            </a:prstGeom>
          </p:spPr>
        </p:pic>
        <p:pic>
          <p:nvPicPr>
            <p:cNvPr id="55" name="Picture 54">
              <a:extLst>
                <a:ext uri="{FF2B5EF4-FFF2-40B4-BE49-F238E27FC236}">
                  <a16:creationId xmlns:a16="http://schemas.microsoft.com/office/drawing/2014/main" id="{63D8C911-E577-3048-E62E-723C887247A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07741" y="1607404"/>
              <a:ext cx="420383" cy="304221"/>
            </a:xfrm>
            <a:prstGeom prst="rect">
              <a:avLst/>
            </a:prstGeom>
          </p:spPr>
        </p:pic>
        <p:cxnSp>
          <p:nvCxnSpPr>
            <p:cNvPr id="8" name="Straight Connector 7">
              <a:extLst>
                <a:ext uri="{FF2B5EF4-FFF2-40B4-BE49-F238E27FC236}">
                  <a16:creationId xmlns:a16="http://schemas.microsoft.com/office/drawing/2014/main" id="{FFE00677-7162-60FC-09F4-26DA6CE6891C}"/>
                </a:ext>
              </a:extLst>
            </p:cNvPr>
            <p:cNvCxnSpPr/>
            <p:nvPr/>
          </p:nvCxnSpPr>
          <p:spPr>
            <a:xfrm>
              <a:off x="8083363" y="972260"/>
              <a:ext cx="0" cy="2245218"/>
            </a:xfrm>
            <a:prstGeom prst="line">
              <a:avLst/>
            </a:prstGeom>
            <a:ln w="9525">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D4D00DB-A8C5-43D3-8E1D-39143A799BB8}"/>
                </a:ext>
              </a:extLst>
            </p:cNvPr>
            <p:cNvCxnSpPr/>
            <p:nvPr/>
          </p:nvCxnSpPr>
          <p:spPr>
            <a:xfrm>
              <a:off x="9313561" y="918942"/>
              <a:ext cx="0" cy="2245218"/>
            </a:xfrm>
            <a:prstGeom prst="line">
              <a:avLst/>
            </a:prstGeom>
            <a:ln w="952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618C509-3C9E-7BA3-B45E-1A3EE40FBA01}"/>
                </a:ext>
              </a:extLst>
            </p:cNvPr>
            <p:cNvSpPr txBox="1"/>
            <p:nvPr/>
          </p:nvSpPr>
          <p:spPr>
            <a:xfrm>
              <a:off x="7181877" y="1359850"/>
              <a:ext cx="901486" cy="215444"/>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Email</a:t>
              </a:r>
            </a:p>
          </p:txBody>
        </p:sp>
        <p:sp>
          <p:nvSpPr>
            <p:cNvPr id="30" name="TextBox 29">
              <a:extLst>
                <a:ext uri="{FF2B5EF4-FFF2-40B4-BE49-F238E27FC236}">
                  <a16:creationId xmlns:a16="http://schemas.microsoft.com/office/drawing/2014/main" id="{5D2F0054-7D55-5ECC-CBD2-203349D3DA74}"/>
                </a:ext>
              </a:extLst>
            </p:cNvPr>
            <p:cNvSpPr txBox="1"/>
            <p:nvPr/>
          </p:nvSpPr>
          <p:spPr>
            <a:xfrm>
              <a:off x="9465225" y="1303077"/>
              <a:ext cx="901486" cy="215444"/>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Voice</a:t>
              </a:r>
            </a:p>
          </p:txBody>
        </p:sp>
        <p:sp>
          <p:nvSpPr>
            <p:cNvPr id="31" name="TextBox 30">
              <a:extLst>
                <a:ext uri="{FF2B5EF4-FFF2-40B4-BE49-F238E27FC236}">
                  <a16:creationId xmlns:a16="http://schemas.microsoft.com/office/drawing/2014/main" id="{3F5D9AE7-9FA1-931D-A774-35D0736BF488}"/>
                </a:ext>
              </a:extLst>
            </p:cNvPr>
            <p:cNvSpPr txBox="1"/>
            <p:nvPr/>
          </p:nvSpPr>
          <p:spPr>
            <a:xfrm>
              <a:off x="8194108" y="1287019"/>
              <a:ext cx="901486" cy="215444"/>
            </a:xfrm>
            <a:prstGeom prst="rect">
              <a:avLst/>
            </a:prstGeom>
            <a:noFill/>
          </p:spPr>
          <p:txBody>
            <a:bodyPr wrap="square" rtlCol="0">
              <a:spAutoFit/>
            </a:body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mn-cs"/>
                </a:rPr>
                <a:t>Chat</a:t>
              </a:r>
            </a:p>
          </p:txBody>
        </p:sp>
        <p:pic>
          <p:nvPicPr>
            <p:cNvPr id="34" name="Graphic 33">
              <a:extLst>
                <a:ext uri="{FF2B5EF4-FFF2-40B4-BE49-F238E27FC236}">
                  <a16:creationId xmlns:a16="http://schemas.microsoft.com/office/drawing/2014/main" id="{428B730F-D425-CAB6-B4DB-F5BD183E2573}"/>
                </a:ext>
              </a:extLst>
            </p:cNvPr>
            <p:cNvPicPr>
              <a:picLocks/>
            </p:cNvPicPr>
            <p:nvPr/>
          </p:nvPicPr>
          <p:blipFill>
            <a:blip r:embed="rId9">
              <a:extLst>
                <a:ext uri="{96DAC541-7B7A-43D3-8B79-37D633B846F1}">
                  <asvg:svgBlip xmlns:asvg="http://schemas.microsoft.com/office/drawing/2016/SVG/main" r:embed="rId10"/>
                </a:ext>
              </a:extLst>
            </a:blip>
            <a:srcRect/>
            <a:stretch/>
          </p:blipFill>
          <p:spPr>
            <a:xfrm>
              <a:off x="9770896" y="998797"/>
              <a:ext cx="341472" cy="310430"/>
            </a:xfrm>
            <a:prstGeom prst="rect">
              <a:avLst/>
            </a:prstGeom>
          </p:spPr>
        </p:pic>
        <p:pic>
          <p:nvPicPr>
            <p:cNvPr id="35" name="Graphic 34">
              <a:extLst>
                <a:ext uri="{FF2B5EF4-FFF2-40B4-BE49-F238E27FC236}">
                  <a16:creationId xmlns:a16="http://schemas.microsoft.com/office/drawing/2014/main" id="{9DE62BE1-D5C4-F306-8B38-9A7C9EAB6270}"/>
                </a:ext>
              </a:extLst>
            </p:cNvPr>
            <p:cNvPicPr>
              <a:picLocks/>
            </p:cNvPicPr>
            <p:nvPr/>
          </p:nvPicPr>
          <p:blipFill>
            <a:blip r:embed="rId11">
              <a:extLst>
                <a:ext uri="{96DAC541-7B7A-43D3-8B79-37D633B846F1}">
                  <asvg:svgBlip xmlns:asvg="http://schemas.microsoft.com/office/drawing/2016/SVG/main" r:embed="rId12"/>
                </a:ext>
              </a:extLst>
            </a:blip>
            <a:srcRect/>
            <a:stretch/>
          </p:blipFill>
          <p:spPr>
            <a:xfrm>
              <a:off x="8464515" y="1029967"/>
              <a:ext cx="341472" cy="310430"/>
            </a:xfrm>
            <a:prstGeom prst="rect">
              <a:avLst/>
            </a:prstGeom>
          </p:spPr>
        </p:pic>
        <p:pic>
          <p:nvPicPr>
            <p:cNvPr id="1028" name="Graphic 1027" descr="Business Growth with solid fill">
              <a:extLst>
                <a:ext uri="{FF2B5EF4-FFF2-40B4-BE49-F238E27FC236}">
                  <a16:creationId xmlns:a16="http://schemas.microsoft.com/office/drawing/2014/main" id="{9FC64F0E-4CA9-8A9E-6EDF-E753EE77746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341645" y="2456330"/>
              <a:ext cx="527088" cy="599251"/>
            </a:xfrm>
            <a:prstGeom prst="rect">
              <a:avLst/>
            </a:prstGeom>
          </p:spPr>
        </p:pic>
        <p:sp>
          <p:nvSpPr>
            <p:cNvPr id="1029" name="TextBox 1028">
              <a:extLst>
                <a:ext uri="{FF2B5EF4-FFF2-40B4-BE49-F238E27FC236}">
                  <a16:creationId xmlns:a16="http://schemas.microsoft.com/office/drawing/2014/main" id="{73DE653E-4783-73CB-988E-27D78C71BD10}"/>
                </a:ext>
              </a:extLst>
            </p:cNvPr>
            <p:cNvSpPr txBox="1"/>
            <p:nvPr/>
          </p:nvSpPr>
          <p:spPr>
            <a:xfrm>
              <a:off x="7204933" y="2918093"/>
              <a:ext cx="1035853" cy="430764"/>
            </a:xfrm>
            <a:prstGeom prst="rect">
              <a:avLst/>
            </a:prstGeom>
            <a:noFill/>
          </p:spPr>
          <p:txBody>
            <a:bodyPr wrap="square" rtlCol="0">
              <a:spAutoFit/>
            </a:bodyPr>
            <a:lstStyle/>
            <a:p>
              <a:r>
                <a:rPr lang="en-US" sz="1000" dirty="0"/>
                <a:t>Expat</a:t>
              </a:r>
            </a:p>
            <a:p>
              <a:r>
                <a:rPr lang="en-US" sz="1000" dirty="0"/>
                <a:t> Associates</a:t>
              </a:r>
            </a:p>
          </p:txBody>
        </p:sp>
        <p:sp>
          <p:nvSpPr>
            <p:cNvPr id="63" name="TextBox 62">
              <a:extLst>
                <a:ext uri="{FF2B5EF4-FFF2-40B4-BE49-F238E27FC236}">
                  <a16:creationId xmlns:a16="http://schemas.microsoft.com/office/drawing/2014/main" id="{5FA62D98-40F9-B4BE-D1DA-59584510B8D1}"/>
                </a:ext>
              </a:extLst>
            </p:cNvPr>
            <p:cNvSpPr txBox="1"/>
            <p:nvPr/>
          </p:nvSpPr>
          <p:spPr>
            <a:xfrm>
              <a:off x="9335840" y="2081620"/>
              <a:ext cx="916007" cy="272315"/>
            </a:xfrm>
            <a:prstGeom prst="rect">
              <a:avLst/>
            </a:prstGeom>
            <a:noFill/>
          </p:spPr>
          <p:txBody>
            <a:bodyPr wrap="square" rtlCol="0">
              <a:spAutoFit/>
            </a:bodyPr>
            <a:lstStyle/>
            <a:p>
              <a:r>
                <a:rPr lang="en-US" sz="1000" dirty="0"/>
                <a:t>24/7Helpline</a:t>
              </a:r>
            </a:p>
          </p:txBody>
        </p:sp>
        <p:sp>
          <p:nvSpPr>
            <p:cNvPr id="58" name="TextBox 57">
              <a:extLst>
                <a:ext uri="{FF2B5EF4-FFF2-40B4-BE49-F238E27FC236}">
                  <a16:creationId xmlns:a16="http://schemas.microsoft.com/office/drawing/2014/main" id="{9C82F8EF-CEB1-7A00-32B3-A45ADF6659F0}"/>
                </a:ext>
              </a:extLst>
            </p:cNvPr>
            <p:cNvSpPr txBox="1"/>
            <p:nvPr/>
          </p:nvSpPr>
          <p:spPr>
            <a:xfrm>
              <a:off x="9553600" y="2913412"/>
              <a:ext cx="1013080" cy="430764"/>
            </a:xfrm>
            <a:prstGeom prst="rect">
              <a:avLst/>
            </a:prstGeom>
            <a:noFill/>
          </p:spPr>
          <p:txBody>
            <a:bodyPr wrap="square" rtlCol="0">
              <a:spAutoFit/>
            </a:bodyPr>
            <a:lstStyle/>
            <a:p>
              <a:r>
                <a:rPr lang="en-US" sz="1000" dirty="0"/>
                <a:t>SOS </a:t>
              </a:r>
            </a:p>
            <a:p>
              <a:r>
                <a:rPr lang="en-US" sz="1000" dirty="0"/>
                <a:t>Follow-up</a:t>
              </a:r>
            </a:p>
          </p:txBody>
        </p:sp>
        <p:sp>
          <p:nvSpPr>
            <p:cNvPr id="56" name="TextBox 55">
              <a:extLst>
                <a:ext uri="{FF2B5EF4-FFF2-40B4-BE49-F238E27FC236}">
                  <a16:creationId xmlns:a16="http://schemas.microsoft.com/office/drawing/2014/main" id="{D594F5A3-A7BB-099E-4611-3A441675A600}"/>
                </a:ext>
              </a:extLst>
            </p:cNvPr>
            <p:cNvSpPr txBox="1"/>
            <p:nvPr/>
          </p:nvSpPr>
          <p:spPr>
            <a:xfrm>
              <a:off x="8342688" y="1989292"/>
              <a:ext cx="1124808" cy="400110"/>
            </a:xfrm>
            <a:prstGeom prst="rect">
              <a:avLst/>
            </a:prstGeom>
            <a:noFill/>
          </p:spPr>
          <p:txBody>
            <a:bodyPr wrap="square" rtlCol="0">
              <a:spAutoFit/>
            </a:bodyPr>
            <a:lstStyle/>
            <a:p>
              <a:r>
                <a:rPr lang="en-US" sz="1000" dirty="0"/>
                <a:t>Business</a:t>
              </a:r>
            </a:p>
            <a:p>
              <a:r>
                <a:rPr lang="en-US" sz="1000" dirty="0"/>
                <a:t>development</a:t>
              </a:r>
            </a:p>
          </p:txBody>
        </p:sp>
        <p:pic>
          <p:nvPicPr>
            <p:cNvPr id="52" name="Graphic 51" descr="Snowflake">
              <a:extLst>
                <a:ext uri="{FF2B5EF4-FFF2-40B4-BE49-F238E27FC236}">
                  <a16:creationId xmlns:a16="http://schemas.microsoft.com/office/drawing/2014/main" id="{5030FB8C-8D43-E897-A64E-8D968D149A3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510085" y="2446086"/>
              <a:ext cx="455847" cy="510401"/>
            </a:xfrm>
            <a:prstGeom prst="rect">
              <a:avLst/>
            </a:prstGeom>
          </p:spPr>
        </p:pic>
        <p:sp>
          <p:nvSpPr>
            <p:cNvPr id="48" name="TextBox 47">
              <a:extLst>
                <a:ext uri="{FF2B5EF4-FFF2-40B4-BE49-F238E27FC236}">
                  <a16:creationId xmlns:a16="http://schemas.microsoft.com/office/drawing/2014/main" id="{FD9F0198-E78E-70CA-275C-ED4BDD937455}"/>
                </a:ext>
              </a:extLst>
            </p:cNvPr>
            <p:cNvSpPr txBox="1"/>
            <p:nvPr/>
          </p:nvSpPr>
          <p:spPr>
            <a:xfrm>
              <a:off x="7232918" y="1969937"/>
              <a:ext cx="696729" cy="430764"/>
            </a:xfrm>
            <a:prstGeom prst="rect">
              <a:avLst/>
            </a:prstGeom>
            <a:noFill/>
          </p:spPr>
          <p:txBody>
            <a:bodyPr wrap="square" rtlCol="0">
              <a:spAutoFit/>
            </a:bodyPr>
            <a:lstStyle/>
            <a:p>
              <a:r>
                <a:rPr lang="en-US" sz="1000" dirty="0"/>
                <a:t>Partner outreach</a:t>
              </a:r>
            </a:p>
          </p:txBody>
        </p:sp>
        <p:pic>
          <p:nvPicPr>
            <p:cNvPr id="49" name="Picture 48">
              <a:extLst>
                <a:ext uri="{FF2B5EF4-FFF2-40B4-BE49-F238E27FC236}">
                  <a16:creationId xmlns:a16="http://schemas.microsoft.com/office/drawing/2014/main" id="{ABB89527-766F-1AFB-81BC-28B6D9AB491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424819" y="1682315"/>
              <a:ext cx="248694" cy="307016"/>
            </a:xfrm>
            <a:prstGeom prst="rect">
              <a:avLst/>
            </a:prstGeom>
          </p:spPr>
        </p:pic>
        <p:pic>
          <p:nvPicPr>
            <p:cNvPr id="46" name="Picture 45">
              <a:extLst>
                <a:ext uri="{FF2B5EF4-FFF2-40B4-BE49-F238E27FC236}">
                  <a16:creationId xmlns:a16="http://schemas.microsoft.com/office/drawing/2014/main" id="{78BBD2B0-1413-402B-C6B3-AD60DA459FF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675549" y="2533640"/>
              <a:ext cx="436819" cy="444632"/>
            </a:xfrm>
            <a:prstGeom prst="rect">
              <a:avLst/>
            </a:prstGeom>
          </p:spPr>
        </p:pic>
        <p:cxnSp>
          <p:nvCxnSpPr>
            <p:cNvPr id="11" name="Straight Connector 10">
              <a:extLst>
                <a:ext uri="{FF2B5EF4-FFF2-40B4-BE49-F238E27FC236}">
                  <a16:creationId xmlns:a16="http://schemas.microsoft.com/office/drawing/2014/main" id="{9EF1DD0F-966F-782E-378F-34A642A189BE}"/>
                </a:ext>
              </a:extLst>
            </p:cNvPr>
            <p:cNvCxnSpPr>
              <a:cxnSpLocks/>
            </p:cNvCxnSpPr>
            <p:nvPr/>
          </p:nvCxnSpPr>
          <p:spPr>
            <a:xfrm>
              <a:off x="7270812" y="2400010"/>
              <a:ext cx="2845828" cy="0"/>
            </a:xfrm>
            <a:prstGeom prst="line">
              <a:avLst/>
            </a:prstGeom>
            <a:ln w="9525">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2C88853-146F-5388-B10B-826BE8E60EA2}"/>
                </a:ext>
              </a:extLst>
            </p:cNvPr>
            <p:cNvCxnSpPr>
              <a:cxnSpLocks/>
            </p:cNvCxnSpPr>
            <p:nvPr/>
          </p:nvCxnSpPr>
          <p:spPr>
            <a:xfrm>
              <a:off x="7266540" y="1543369"/>
              <a:ext cx="2845828" cy="0"/>
            </a:xfrm>
            <a:prstGeom prst="line">
              <a:avLst/>
            </a:prstGeom>
            <a:ln w="952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C447A369-8437-A402-9CA6-8C17DA5425D2}"/>
                </a:ext>
              </a:extLst>
            </p:cNvPr>
            <p:cNvSpPr/>
            <p:nvPr/>
          </p:nvSpPr>
          <p:spPr>
            <a:xfrm>
              <a:off x="9223052" y="2269838"/>
              <a:ext cx="225575" cy="203662"/>
            </a:xfrm>
            <a:prstGeom prst="rect">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mn-cs"/>
              </a:endParaRPr>
            </a:p>
          </p:txBody>
        </p:sp>
        <p:sp>
          <p:nvSpPr>
            <p:cNvPr id="14" name="Rectangle 13">
              <a:extLst>
                <a:ext uri="{FF2B5EF4-FFF2-40B4-BE49-F238E27FC236}">
                  <a16:creationId xmlns:a16="http://schemas.microsoft.com/office/drawing/2014/main" id="{5A46A3BD-9028-782E-FA48-E246539F723C}"/>
                </a:ext>
              </a:extLst>
            </p:cNvPr>
            <p:cNvSpPr/>
            <p:nvPr/>
          </p:nvSpPr>
          <p:spPr>
            <a:xfrm>
              <a:off x="7986675" y="2329978"/>
              <a:ext cx="225575" cy="203662"/>
            </a:xfrm>
            <a:prstGeom prst="rect">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3" name="Rectangle 12">
              <a:extLst>
                <a:ext uri="{FF2B5EF4-FFF2-40B4-BE49-F238E27FC236}">
                  <a16:creationId xmlns:a16="http://schemas.microsoft.com/office/drawing/2014/main" id="{C9ECDB7E-9E92-EB67-0A86-A0290596C5E8}"/>
                </a:ext>
              </a:extLst>
            </p:cNvPr>
            <p:cNvSpPr/>
            <p:nvPr/>
          </p:nvSpPr>
          <p:spPr>
            <a:xfrm>
              <a:off x="7929647" y="1489262"/>
              <a:ext cx="279474" cy="218140"/>
            </a:xfrm>
            <a:prstGeom prst="rect">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B6BA5976-18DB-9693-B771-3C6F0036AE17}"/>
                </a:ext>
              </a:extLst>
            </p:cNvPr>
            <p:cNvSpPr/>
            <p:nvPr/>
          </p:nvSpPr>
          <p:spPr>
            <a:xfrm>
              <a:off x="9204265" y="1441838"/>
              <a:ext cx="225575" cy="203662"/>
            </a:xfrm>
            <a:prstGeom prst="rect">
              <a:avLst/>
            </a:prstGeom>
            <a:solidFill>
              <a:schemeClr val="accent2">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FFFFFF"/>
                </a:solidFill>
                <a:effectLst/>
                <a:uLnTx/>
                <a:uFillTx/>
                <a:latin typeface="Arial"/>
                <a:ea typeface="+mn-ea"/>
                <a:cs typeface="+mn-cs"/>
              </a:endParaRPr>
            </a:p>
          </p:txBody>
        </p:sp>
      </p:grpSp>
      <p:graphicFrame>
        <p:nvGraphicFramePr>
          <p:cNvPr id="1067" name="Diagram 1066">
            <a:extLst>
              <a:ext uri="{FF2B5EF4-FFF2-40B4-BE49-F238E27FC236}">
                <a16:creationId xmlns:a16="http://schemas.microsoft.com/office/drawing/2014/main" id="{5AA137FB-1CEB-7F89-7BBE-27B6C630300C}"/>
              </a:ext>
            </a:extLst>
          </p:cNvPr>
          <p:cNvGraphicFramePr/>
          <p:nvPr>
            <p:extLst>
              <p:ext uri="{D42A27DB-BD31-4B8C-83A1-F6EECF244321}">
                <p14:modId xmlns:p14="http://schemas.microsoft.com/office/powerpoint/2010/main" val="1606273474"/>
              </p:ext>
            </p:extLst>
          </p:nvPr>
        </p:nvGraphicFramePr>
        <p:xfrm>
          <a:off x="155937" y="2609069"/>
          <a:ext cx="6445771" cy="3561156"/>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sp>
        <p:nvSpPr>
          <p:cNvPr id="1068" name="TextBox 1067">
            <a:extLst>
              <a:ext uri="{FF2B5EF4-FFF2-40B4-BE49-F238E27FC236}">
                <a16:creationId xmlns:a16="http://schemas.microsoft.com/office/drawing/2014/main" id="{DA694219-342D-840B-5630-4960E3084CF7}"/>
              </a:ext>
            </a:extLst>
          </p:cNvPr>
          <p:cNvSpPr txBox="1"/>
          <p:nvPr/>
        </p:nvSpPr>
        <p:spPr>
          <a:xfrm>
            <a:off x="30410" y="79543"/>
            <a:ext cx="8154220" cy="861774"/>
          </a:xfrm>
          <a:prstGeom prst="rect">
            <a:avLst/>
          </a:prstGeom>
          <a:noFill/>
        </p:spPr>
        <p:txBody>
          <a:bodyPr wrap="square">
            <a:spAutoFit/>
          </a:bodyPr>
          <a:lstStyle/>
          <a:p>
            <a:pPr>
              <a:defRPr sz="1600">
                <a:solidFill>
                  <a:srgbClr val="028090"/>
                </a:solidFill>
              </a:defRPr>
            </a:pPr>
            <a:r>
              <a:rPr lang="en-US" sz="2800" b="1" dirty="0">
                <a:solidFill>
                  <a:schemeClr val="accent4">
                    <a:lumMod val="75000"/>
                  </a:schemeClr>
                </a:solidFill>
                <a:latin typeface="Eurostile extended"/>
              </a:rPr>
              <a:t>CUSTOMER EXPERIENCE TRANSFORMATION.</a:t>
            </a:r>
          </a:p>
          <a:p>
            <a:pPr>
              <a:defRPr sz="1600">
                <a:solidFill>
                  <a:srgbClr val="028090"/>
                </a:solidFill>
              </a:defRPr>
            </a:pPr>
            <a:r>
              <a:rPr lang="en-US" sz="2200" b="1" i="1" dirty="0">
                <a:solidFill>
                  <a:schemeClr val="accent4">
                    <a:lumMod val="75000"/>
                  </a:schemeClr>
                </a:solidFill>
                <a:latin typeface="Eurostile extended"/>
              </a:rPr>
              <a:t>Multi-Channel Excellence &amp; Women Safety Initiative.</a:t>
            </a:r>
          </a:p>
        </p:txBody>
      </p:sp>
      <p:sp>
        <p:nvSpPr>
          <p:cNvPr id="1069" name="TextBox 1068">
            <a:extLst>
              <a:ext uri="{FF2B5EF4-FFF2-40B4-BE49-F238E27FC236}">
                <a16:creationId xmlns:a16="http://schemas.microsoft.com/office/drawing/2014/main" id="{CB7E4358-4A0B-B884-D854-FE6CC71FC303}"/>
              </a:ext>
            </a:extLst>
          </p:cNvPr>
          <p:cNvSpPr txBox="1"/>
          <p:nvPr/>
        </p:nvSpPr>
        <p:spPr>
          <a:xfrm>
            <a:off x="0" y="1452884"/>
            <a:ext cx="6445770" cy="1107996"/>
          </a:xfrm>
          <a:prstGeom prst="rect">
            <a:avLst/>
          </a:prstGeom>
          <a:noFill/>
        </p:spPr>
        <p:txBody>
          <a:bodyPr wrap="square" rtlCol="0">
            <a:spAutoFit/>
          </a:bodyPr>
          <a:lstStyle/>
          <a:p>
            <a:r>
              <a:rPr lang="en-US" sz="1600" b="1" dirty="0">
                <a:solidFill>
                  <a:schemeClr val="accent4">
                    <a:lumMod val="75000"/>
                  </a:schemeClr>
                </a:solidFill>
              </a:rPr>
              <a:t>The challenge.</a:t>
            </a:r>
            <a:endParaRPr lang="en-US" sz="1600" dirty="0">
              <a:solidFill>
                <a:schemeClr val="accent4">
                  <a:lumMod val="75000"/>
                </a:schemeClr>
              </a:solidFill>
            </a:endParaRPr>
          </a:p>
          <a:p>
            <a:r>
              <a:rPr lang="en-US" sz="1000" dirty="0"/>
              <a:t>The company faced significant challenges in managing real-time safety concerns raised by female customers. Complaint registration was slow, and responses during critical incidents were often delayed, leading to growing dissatisfaction. Operational effectiveness was further strained by compliance requirements and the expanding gig workforce delivering services. Negative feedback on social media amplified the reputational risk, creating an urgent need for a responsive, efficient, and scalable safety management solution.</a:t>
            </a:r>
          </a:p>
        </p:txBody>
      </p:sp>
      <p:sp>
        <p:nvSpPr>
          <p:cNvPr id="1070" name="TextBox 1069">
            <a:extLst>
              <a:ext uri="{FF2B5EF4-FFF2-40B4-BE49-F238E27FC236}">
                <a16:creationId xmlns:a16="http://schemas.microsoft.com/office/drawing/2014/main" id="{4B83817E-4FAA-7A4F-B018-9BEC82779138}"/>
              </a:ext>
            </a:extLst>
          </p:cNvPr>
          <p:cNvSpPr txBox="1"/>
          <p:nvPr/>
        </p:nvSpPr>
        <p:spPr>
          <a:xfrm>
            <a:off x="0" y="1002083"/>
            <a:ext cx="11877167" cy="423193"/>
          </a:xfrm>
          <a:prstGeom prst="rect">
            <a:avLst/>
          </a:prstGeom>
          <a:noFill/>
        </p:spPr>
        <p:txBody>
          <a:bodyPr wrap="square" rtlCol="0">
            <a:spAutoFit/>
          </a:bodyPr>
          <a:lstStyle/>
          <a:p>
            <a:r>
              <a:rPr lang="en-US" sz="1050" dirty="0"/>
              <a:t>Our client ,Uber  is a leading global mobility and ride sharing company operating in hundreds of cities worldwide. The platform connects millions of riders with drivers and delivery partners, offering reliable, convenient, and technology driven transportation and delivery services. Uber is committed to safety, innovation, and providing seamless experiences for its customers across multiple channels</a:t>
            </a:r>
            <a:r>
              <a:rPr lang="en-US" sz="1100" dirty="0"/>
              <a:t>.</a:t>
            </a:r>
          </a:p>
        </p:txBody>
      </p:sp>
      <p:sp>
        <p:nvSpPr>
          <p:cNvPr id="1071" name="TextBox 1070">
            <a:extLst>
              <a:ext uri="{FF2B5EF4-FFF2-40B4-BE49-F238E27FC236}">
                <a16:creationId xmlns:a16="http://schemas.microsoft.com/office/drawing/2014/main" id="{7EBD6F07-7989-0DE3-30AB-B2DF4129EA44}"/>
              </a:ext>
            </a:extLst>
          </p:cNvPr>
          <p:cNvSpPr txBox="1"/>
          <p:nvPr/>
        </p:nvSpPr>
        <p:spPr>
          <a:xfrm>
            <a:off x="133659" y="2672247"/>
            <a:ext cx="1640121" cy="338554"/>
          </a:xfrm>
          <a:prstGeom prst="rect">
            <a:avLst/>
          </a:prstGeom>
          <a:noFill/>
        </p:spPr>
        <p:txBody>
          <a:bodyPr wrap="square" rtlCol="0">
            <a:spAutoFit/>
          </a:bodyPr>
          <a:lstStyle/>
          <a:p>
            <a:r>
              <a:rPr lang="en-US" sz="1600" b="1" dirty="0">
                <a:solidFill>
                  <a:schemeClr val="accent4">
                    <a:lumMod val="75000"/>
                  </a:schemeClr>
                </a:solidFill>
              </a:rPr>
              <a:t>Our Solution.</a:t>
            </a:r>
          </a:p>
        </p:txBody>
      </p:sp>
    </p:spTree>
    <p:extLst>
      <p:ext uri="{BB962C8B-B14F-4D97-AF65-F5344CB8AC3E}">
        <p14:creationId xmlns:p14="http://schemas.microsoft.com/office/powerpoint/2010/main" val="2920519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101ae6a-4069-48f9-a327-eec5db549099}" enabled="1" method="Standard" siteId="{edf2370f-18e3-48eb-9bec-441a40581098}" contentBits="0" removed="0"/>
</clbl:labelList>
</file>

<file path=docProps/app.xml><?xml version="1.0" encoding="utf-8"?>
<Properties xmlns="http://schemas.openxmlformats.org/officeDocument/2006/extended-properties" xmlns:vt="http://schemas.openxmlformats.org/officeDocument/2006/docPropsVTypes">
  <TotalTime>136</TotalTime>
  <Words>764</Words>
  <Application>Microsoft Office PowerPoint</Application>
  <PresentationFormat>Widescreen</PresentationFormat>
  <Paragraphs>81</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Eurostile extended</vt:lpstr>
      <vt:lpstr>Verdana</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Emmanuel Maingi</dc:creator>
  <cp:lastModifiedBy>Emmanuel Maingi</cp:lastModifiedBy>
  <cp:revision>3</cp:revision>
  <dcterms:created xsi:type="dcterms:W3CDTF">2026-02-23T23:03:53Z</dcterms:created>
  <dcterms:modified xsi:type="dcterms:W3CDTF">2026-02-24T11:29:09Z</dcterms:modified>
</cp:coreProperties>
</file>